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90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0181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9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2761488" cy="292608"/>
          </a:xfrm>
          <a:prstGeom prst="roundRect">
            <a:avLst>
              <a:gd name="adj" fmla="val 25000"/>
            </a:avLst>
          </a:prstGeom>
          <a:solidFill>
            <a:srgbClr val="28313A"/>
          </a:solidFill>
          <a:ln w="9525">
            <a:solidFill>
              <a:srgbClr val="2DD4B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 / NORMALIZATION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6217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データベース</a:t>
            </a:r>
            <a:endParaRPr lang="en-US" sz="5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正規化入門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393192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93A1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関数従属・部分関数従属・推移関数従属を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93A1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例題と演習でやさしく理解する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530352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B6F23C"/>
          </a:solidFill>
          <a:ln w="6350">
            <a:solidFill>
              <a:srgbClr val="B6F2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9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例題 x 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468880" y="530352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B6F23C"/>
          </a:solidFill>
          <a:ln w="6350">
            <a:solidFill>
              <a:srgbClr val="B6F2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9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演習 x 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06240" y="530352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B6F23C"/>
          </a:solidFill>
          <a:ln w="6350">
            <a:solidFill>
              <a:srgbClr val="B6F2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9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解答つき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06640" y="914400"/>
            <a:ext cx="4206240" cy="5029200"/>
          </a:xfrm>
          <a:prstGeom prst="rect">
            <a:avLst/>
          </a:prstGeom>
          <a:solidFill>
            <a:srgbClr val="1F252C"/>
          </a:solidFill>
          <a:ln w="9525">
            <a:solidFill>
              <a:srgbClr val="3A46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768096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A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63840" y="1645920"/>
            <a:ext cx="3291840" cy="731520"/>
          </a:xfrm>
          <a:prstGeom prst="rect">
            <a:avLst/>
          </a:prstGeom>
          <a:solidFill>
            <a:srgbClr val="28313A"/>
          </a:solidFill>
          <a:ln w="15875">
            <a:solidFill>
              <a:srgbClr val="B6F23C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6F2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社員番号（主キー）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863840" y="3108960"/>
            <a:ext cx="3291840" cy="731520"/>
          </a:xfrm>
          <a:prstGeom prst="rect">
            <a:avLst/>
          </a:prstGeom>
          <a:solidFill>
            <a:srgbClr val="28313A"/>
          </a:solidFill>
          <a:ln w="15875">
            <a:solidFill>
              <a:srgbClr val="2DD4BF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部署コード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863840" y="4572000"/>
            <a:ext cx="3291840" cy="731520"/>
          </a:xfrm>
          <a:prstGeom prst="rect">
            <a:avLst/>
          </a:prstGeom>
          <a:solidFill>
            <a:srgbClr val="28313A"/>
          </a:solidFill>
          <a:ln w="15875">
            <a:solidFill>
              <a:srgbClr val="2DD4BF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部署名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509760" y="2377440"/>
            <a:ext cx="0" cy="73152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9509760" y="3840480"/>
            <a:ext cx="0" cy="73152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9692640" y="2560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→ 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92640" y="4023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→ 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80960" y="5440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6F2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 → C は推移関数従属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9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609344" cy="292608"/>
          </a:xfrm>
          <a:prstGeom prst="roundRect">
            <a:avLst>
              <a:gd name="adj" fmla="val 25000"/>
            </a:avLst>
          </a:prstGeom>
          <a:solidFill>
            <a:srgbClr val="28313A"/>
          </a:solidFill>
          <a:ln w="9525">
            <a:solidFill>
              <a:srgbClr val="2DD4B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 /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この資料の流れ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 NORMALIZATION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520440" cy="2148840"/>
          </a:xfrm>
          <a:prstGeom prst="rect">
            <a:avLst/>
          </a:prstGeom>
          <a:solidFill>
            <a:srgbClr val="1F252C"/>
          </a:solidFill>
          <a:ln w="9525">
            <a:solidFill>
              <a:srgbClr val="3A46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なぜ正規化するのか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31546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3A1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更新・挿入・削除の異常を防ぐための考え方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43400" y="1828800"/>
            <a:ext cx="3520440" cy="2148840"/>
          </a:xfrm>
          <a:prstGeom prst="rect">
            <a:avLst/>
          </a:prstGeom>
          <a:solidFill>
            <a:srgbClr val="1F252C"/>
          </a:solidFill>
          <a:ln w="9525">
            <a:solidFill>
              <a:srgbClr val="3A46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617720" y="20574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17720" y="26974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関数従属とは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17720" y="31546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3A1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「Aが決まればBが決まる」という関係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38160" y="1828800"/>
            <a:ext cx="3520440" cy="2148840"/>
          </a:xfrm>
          <a:prstGeom prst="rect">
            <a:avLst/>
          </a:prstGeom>
          <a:solidFill>
            <a:srgbClr val="1F252C"/>
          </a:solidFill>
          <a:ln w="9525">
            <a:solidFill>
              <a:srgbClr val="3A46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8412480" y="20574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412480" y="26974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部分関数従属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12480" y="31546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3A1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複合キーの一部だけで決まってしまう関係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251960"/>
            <a:ext cx="3520440" cy="2148840"/>
          </a:xfrm>
          <a:prstGeom prst="rect">
            <a:avLst/>
          </a:prstGeom>
          <a:solidFill>
            <a:srgbClr val="1F252C"/>
          </a:solidFill>
          <a:ln w="9525">
            <a:solidFill>
              <a:srgbClr val="3A46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22960" y="51206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推移関数従属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22960" y="55778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3A1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キー以外の列を経由して決まる関係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343400" y="4251960"/>
            <a:ext cx="3520440" cy="2148840"/>
          </a:xfrm>
          <a:prstGeom prst="rect">
            <a:avLst/>
          </a:prstGeom>
          <a:solidFill>
            <a:srgbClr val="1F252C"/>
          </a:solidFill>
          <a:ln w="9525">
            <a:solidFill>
              <a:srgbClr val="B6F23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4617720" y="4480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6F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4617720" y="51206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例題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617720" y="55778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3A1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表を分解して第2・第3正規形をつくる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138160" y="4251960"/>
            <a:ext cx="3520440" cy="2148840"/>
          </a:xfrm>
          <a:prstGeom prst="rect">
            <a:avLst/>
          </a:prstGeom>
          <a:solidFill>
            <a:srgbClr val="1F252C"/>
          </a:solidFill>
          <a:ln w="9525">
            <a:solidFill>
              <a:srgbClr val="B6F23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8412480" y="4480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6F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8412480" y="51206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演習問題 5題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412480" y="55778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3A1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自分で判定・分解して解答で確認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9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225296" cy="292608"/>
          </a:xfrm>
          <a:prstGeom prst="roundRect">
            <a:avLst>
              <a:gd name="adj" fmla="val 25000"/>
            </a:avLst>
          </a:prstGeom>
          <a:solidFill>
            <a:srgbClr val="28313A"/>
          </a:solidFill>
          <a:ln w="9525">
            <a:solidFill>
              <a:srgbClr val="2DD4B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WHY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なぜ正規化が必要なのか？― 分解しない表の問題点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 NORMALIZATION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A1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order_detail（正規化前）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9144000" cy="9144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B6F23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注文番号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B6F23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商品コード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DD4B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商品名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DD4B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単価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DD4B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数量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1001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P01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B718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ボールペン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B718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120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1001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P02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ノート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200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1002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P01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B718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ボールペン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B718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120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1003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P03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定規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150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389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B71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赤字：同じ商品情報が何度も登録されている（冗長）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4892040"/>
            <a:ext cx="4846320" cy="1188720"/>
          </a:xfrm>
          <a:prstGeom prst="rect">
            <a:avLst/>
          </a:prstGeom>
          <a:solidFill>
            <a:srgbClr val="0F4D49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/>
          <p:nvPr/>
        </p:nvSpPr>
        <p:spPr>
          <a:xfrm>
            <a:off x="777240" y="498348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6F2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解決策：表を分けて冗長をなくす = 正規化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分ける手がかりが「関数従属」です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852160" y="1645920"/>
            <a:ext cx="5760720" cy="1371600"/>
          </a:xfrm>
          <a:prstGeom prst="rect">
            <a:avLst/>
          </a:prstGeom>
          <a:solidFill>
            <a:srgbClr val="1F252C"/>
          </a:solidFill>
          <a:ln w="9525">
            <a:solidFill>
              <a:srgbClr val="3A46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9"/>
          <p:cNvSpPr/>
          <p:nvPr/>
        </p:nvSpPr>
        <p:spPr>
          <a:xfrm>
            <a:off x="612648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126480" y="21031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更新異常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126480" y="248716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3A1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ボールペンの単価を変更するとき、全ての行を直さないとデータに矛盾が生じる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852160" y="3200400"/>
            <a:ext cx="5760720" cy="1371600"/>
          </a:xfrm>
          <a:prstGeom prst="rect">
            <a:avLst/>
          </a:prstGeom>
          <a:solidFill>
            <a:srgbClr val="1F252C"/>
          </a:solidFill>
          <a:ln w="9525">
            <a:solidFill>
              <a:srgbClr val="3A46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3"/>
          <p:cNvSpPr/>
          <p:nvPr/>
        </p:nvSpPr>
        <p:spPr>
          <a:xfrm>
            <a:off x="6126480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126480" y="3657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挿入異常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6126480" y="404164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3A1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まだ注文のない新商品は、注文番号が空のため登録できない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852160" y="4754880"/>
            <a:ext cx="5760720" cy="1371600"/>
          </a:xfrm>
          <a:prstGeom prst="rect">
            <a:avLst/>
          </a:prstGeom>
          <a:solidFill>
            <a:srgbClr val="1F252C"/>
          </a:solidFill>
          <a:ln w="9525">
            <a:solidFill>
              <a:srgbClr val="3A46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7"/>
          <p:cNvSpPr/>
          <p:nvPr/>
        </p:nvSpPr>
        <p:spPr>
          <a:xfrm>
            <a:off x="6126480" y="4937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126480" y="5212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削除異常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126480" y="559612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3A1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注文 1003 を削除すると、定規の商品情報まで消えてしまう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9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2953512" cy="292608"/>
          </a:xfrm>
          <a:prstGeom prst="roundRect">
            <a:avLst>
              <a:gd name="adj" fmla="val 25000"/>
            </a:avLst>
          </a:prstGeom>
          <a:solidFill>
            <a:srgbClr val="28313A"/>
          </a:solidFill>
          <a:ln w="9525">
            <a:solidFill>
              <a:srgbClr val="2DD4B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FUNCTIONAL DEPENDENCY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関数従属：Aが決まれば Bがひとつに決まる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 NORMALIZATION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394960" cy="2103120"/>
          </a:xfrm>
          <a:prstGeom prst="rect">
            <a:avLst/>
          </a:prstGeom>
          <a:solidFill>
            <a:srgbClr val="1F252C"/>
          </a:solidFill>
          <a:ln w="9525">
            <a:solidFill>
              <a:srgbClr val="3A46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1554480" cy="914400"/>
          </a:xfrm>
          <a:prstGeom prst="rect">
            <a:avLst/>
          </a:prstGeom>
          <a:solidFill>
            <a:srgbClr val="28313A"/>
          </a:solidFill>
          <a:ln w="15875">
            <a:solidFill>
              <a:srgbClr val="B6F23C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B6F2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931920" y="2103120"/>
            <a:ext cx="1554480" cy="914400"/>
          </a:xfrm>
          <a:prstGeom prst="rect">
            <a:avLst/>
          </a:prstGeom>
          <a:solidFill>
            <a:srgbClr val="28313A"/>
          </a:solidFill>
          <a:ln w="15875">
            <a:solidFill>
              <a:srgbClr val="2DD4BF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2560320" y="2560320"/>
            <a:ext cx="137160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1005840" y="3154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6F2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決定項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31920" y="3154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D4B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従属項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51760" y="2103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→ B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5394960" cy="1965960"/>
          </a:xfrm>
          <a:prstGeom prst="rect">
            <a:avLst/>
          </a:prstGeom>
          <a:solidFill>
            <a:srgbClr val="0F4D49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777240" y="4206240"/>
            <a:ext cx="4937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B6F2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ポイント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属性Aの値が決まると、属性Bの値がただひとつに決まるとき、「BはAに関数従属する」といいます。主キーは、表のすべての属性を決められる「決定項」です。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A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011680"/>
          <a:ext cx="9144000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B6F23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学生番号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DD4B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学生名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DD4B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学科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2001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佐藤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情報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2002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鈴木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経営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2003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高橋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情報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6400800" y="3977640"/>
            <a:ext cx="5212080" cy="1097280"/>
          </a:xfrm>
          <a:prstGeom prst="rect">
            <a:avLst/>
          </a:prstGeom>
          <a:solidFill>
            <a:srgbClr val="1F252C"/>
          </a:solidFill>
          <a:ln w="9525">
            <a:solidFill>
              <a:srgbClr val="3A46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5"/>
          <p:cNvSpPr/>
          <p:nvPr/>
        </p:nvSpPr>
        <p:spPr>
          <a:xfrm>
            <a:off x="6629400" y="4251960"/>
            <a:ext cx="548640" cy="548640"/>
          </a:xfrm>
          <a:prstGeom prst="ellipse">
            <a:avLst/>
          </a:prstGeom>
          <a:solidFill>
            <a:srgbClr val="B6F23C"/>
          </a:solidFill>
          <a:ln w="6350">
            <a:solidFill>
              <a:srgbClr val="B6F2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19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7406640" y="4114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学生番号 → 学生名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406640" y="450799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3A1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番号が決まれば名前は1つに決まる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400800" y="5120640"/>
            <a:ext cx="5212080" cy="1097280"/>
          </a:xfrm>
          <a:prstGeom prst="rect">
            <a:avLst/>
          </a:prstGeom>
          <a:solidFill>
            <a:srgbClr val="1F252C"/>
          </a:solidFill>
          <a:ln w="9525">
            <a:solidFill>
              <a:srgbClr val="3A46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19"/>
          <p:cNvSpPr/>
          <p:nvPr/>
        </p:nvSpPr>
        <p:spPr>
          <a:xfrm>
            <a:off x="6629400" y="5394960"/>
            <a:ext cx="548640" cy="548640"/>
          </a:xfrm>
          <a:prstGeom prst="ellipse">
            <a:avLst/>
          </a:prstGeom>
          <a:solidFill>
            <a:srgbClr val="FB7185"/>
          </a:solidFill>
          <a:ln w="6350">
            <a:solidFill>
              <a:srgbClr val="FB718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19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×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7406640" y="5257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学生名 → 学生番号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406640" y="565099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3A1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同姓同名の学生がいるかもしれないので決まらない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9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2665476" cy="292608"/>
          </a:xfrm>
          <a:prstGeom prst="roundRect">
            <a:avLst>
              <a:gd name="adj" fmla="val 25000"/>
            </a:avLst>
          </a:prstGeom>
          <a:solidFill>
            <a:srgbClr val="28313A"/>
          </a:solidFill>
          <a:ln w="9525">
            <a:solidFill>
              <a:srgbClr val="2DD4B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PARTIAL DEPENDENCY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部分関数従属：複合キーの「一部」だけで決まってしまう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 NORMALIZATION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6949440" cy="4389120"/>
          </a:xfrm>
          <a:prstGeom prst="rect">
            <a:avLst/>
          </a:prstGeom>
          <a:solidFill>
            <a:srgbClr val="1F252C"/>
          </a:solidFill>
          <a:ln w="9525">
            <a:solidFill>
              <a:srgbClr val="3A46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777240" y="18105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A1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enrollment（主キー：学生番号 + 科目コード）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2194560"/>
            <a:ext cx="4480560" cy="1005840"/>
          </a:xfrm>
          <a:prstGeom prst="rect">
            <a:avLst/>
          </a:prstGeom>
          <a:ln w="15875">
            <a:solidFill>
              <a:srgbClr val="B6F23C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914400" y="2331720"/>
            <a:ext cx="2011680" cy="731520"/>
          </a:xfrm>
          <a:prstGeom prst="rect">
            <a:avLst/>
          </a:prstGeom>
          <a:solidFill>
            <a:srgbClr val="28313A"/>
          </a:solidFill>
          <a:ln w="15875">
            <a:solidFill>
              <a:srgbClr val="B6F23C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6F2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学生番号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108960" y="2331720"/>
            <a:ext cx="2011680" cy="731520"/>
          </a:xfrm>
          <a:prstGeom prst="rect">
            <a:avLst/>
          </a:prstGeom>
          <a:solidFill>
            <a:srgbClr val="28313A"/>
          </a:solidFill>
          <a:ln w="15875">
            <a:solidFill>
              <a:srgbClr val="B6F23C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6F2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科目コード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852160" y="2331720"/>
            <a:ext cx="1371600" cy="731520"/>
          </a:xfrm>
          <a:prstGeom prst="rect">
            <a:avLst/>
          </a:prstGeom>
          <a:solidFill>
            <a:srgbClr val="28313A"/>
          </a:solidFill>
          <a:ln w="15875">
            <a:solidFill>
              <a:srgbClr val="2DD4BF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成績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257800" y="2697480"/>
            <a:ext cx="594360" cy="0"/>
          </a:xfrm>
          <a:prstGeom prst="line">
            <a:avLst/>
          </a:prstGeom>
          <a:noFill/>
          <a:ln w="25400">
            <a:solidFill>
              <a:srgbClr val="B6F23C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5577840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6F2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完全関数従属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4297680"/>
            <a:ext cx="2011680" cy="731520"/>
          </a:xfrm>
          <a:prstGeom prst="rect">
            <a:avLst/>
          </a:prstGeom>
          <a:solidFill>
            <a:srgbClr val="28313A"/>
          </a:solidFill>
          <a:ln w="15875">
            <a:solidFill>
              <a:srgbClr val="FB7185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学生名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108960" y="4297680"/>
            <a:ext cx="2011680" cy="731520"/>
          </a:xfrm>
          <a:prstGeom prst="rect">
            <a:avLst/>
          </a:prstGeom>
          <a:solidFill>
            <a:srgbClr val="28313A"/>
          </a:solidFill>
          <a:ln w="15875">
            <a:solidFill>
              <a:srgbClr val="FB7185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科目名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920240" y="3246120"/>
            <a:ext cx="0" cy="105156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4114800" y="3246120"/>
            <a:ext cx="0" cy="105156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777240" y="34747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B71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学生番号だけで決まる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06240" y="34747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B71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科目コードだけで決まる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51663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71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部分関数従属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557784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A1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成績は「誰が」「何を」受講したか。両方そろって初めて決まる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72400" y="1737360"/>
            <a:ext cx="3840480" cy="2011680"/>
          </a:xfrm>
          <a:prstGeom prst="rect">
            <a:avLst/>
          </a:prstGeom>
          <a:solidFill>
            <a:srgbClr val="1F252C"/>
          </a:solidFill>
          <a:ln w="9525">
            <a:solidFill>
              <a:srgbClr val="B6F23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8001000" y="182880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B6F2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完全関数従属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複合キーの全体で初めて決まる関係。キーのどちらか1つを欠いても成り立たない。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772400" y="4023360"/>
            <a:ext cx="3840480" cy="2103120"/>
          </a:xfrm>
          <a:prstGeom prst="rect">
            <a:avLst/>
          </a:prstGeom>
          <a:solidFill>
            <a:srgbClr val="1F252C"/>
          </a:solidFill>
          <a:ln w="9525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8001000" y="411480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B71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部分関数従属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キーの一部だけで決まる関係。冗長・異常の原因。第2正規形で取り除く。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93A1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主キーが1列なら発生しない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9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2953512" cy="292608"/>
          </a:xfrm>
          <a:prstGeom prst="roundRect">
            <a:avLst>
              <a:gd name="adj" fmla="val 25000"/>
            </a:avLst>
          </a:prstGeom>
          <a:solidFill>
            <a:srgbClr val="28313A"/>
          </a:solidFill>
          <a:ln w="9525">
            <a:solidFill>
              <a:srgbClr val="2DD4B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TRANSITIVE DEPENDENCY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推移関数従属：キー以外を「経由して」決まる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 NORMALIZATION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A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5212080" cy="22860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B6F23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社員番号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DD4B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氏名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DD4B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部署コード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DD4B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部署名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E01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山田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D10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B718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営業部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E02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田中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D20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開発部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E03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中村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D10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B718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営業部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E04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小林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D20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開発部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572000"/>
            <a:ext cx="1371600" cy="640080"/>
          </a:xfrm>
          <a:prstGeom prst="rect">
            <a:avLst/>
          </a:prstGeom>
          <a:solidFill>
            <a:srgbClr val="28313A"/>
          </a:solidFill>
          <a:ln w="15875">
            <a:solidFill>
              <a:srgbClr val="B6F23C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6F2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社員番号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468880" y="4572000"/>
            <a:ext cx="1371600" cy="640080"/>
          </a:xfrm>
          <a:prstGeom prst="rect">
            <a:avLst/>
          </a:prstGeom>
          <a:solidFill>
            <a:srgbClr val="28313A"/>
          </a:solidFill>
          <a:ln w="15875">
            <a:solidFill>
              <a:srgbClr val="2DD4BF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部署コード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389120" y="4572000"/>
            <a:ext cx="1371600" cy="640080"/>
          </a:xfrm>
          <a:prstGeom prst="rect">
            <a:avLst/>
          </a:prstGeom>
          <a:solidFill>
            <a:srgbClr val="28313A"/>
          </a:solidFill>
          <a:ln w="15875">
            <a:solidFill>
              <a:srgbClr val="FB7185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部署名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920240" y="4892040"/>
            <a:ext cx="54864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9"/>
          <p:cNvSpPr/>
          <p:nvPr/>
        </p:nvSpPr>
        <p:spPr>
          <a:xfrm>
            <a:off x="3840480" y="4892040"/>
            <a:ext cx="54864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0"/>
          <p:cNvSpPr/>
          <p:nvPr/>
        </p:nvSpPr>
        <p:spPr>
          <a:xfrm>
            <a:off x="1234440" y="5440680"/>
            <a:ext cx="3840480" cy="0"/>
          </a:xfrm>
          <a:prstGeom prst="line">
            <a:avLst/>
          </a:prstGeom>
          <a:noFill/>
          <a:ln w="25400">
            <a:solidFill>
              <a:srgbClr val="FB7185"/>
            </a:solidFill>
            <a:prstDash val="dash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1"/>
          <p:cNvSpPr/>
          <p:nvPr/>
        </p:nvSpPr>
        <p:spPr>
          <a:xfrm>
            <a:off x="548640" y="55778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B71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推移関数従属（社員番号 → 部署名）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0" y="1737360"/>
            <a:ext cx="5212080" cy="1645920"/>
          </a:xfrm>
          <a:prstGeom prst="rect">
            <a:avLst/>
          </a:prstGeom>
          <a:solidFill>
            <a:srgbClr val="1F252C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3"/>
          <p:cNvSpPr/>
          <p:nvPr/>
        </p:nvSpPr>
        <p:spPr>
          <a:xfrm>
            <a:off x="6629400" y="18288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DD4B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定義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 → B かつ B → C で、B が主キーではないとき、A → C は B を経由した推移関数従属です。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400800" y="3566160"/>
            <a:ext cx="5212080" cy="1188720"/>
          </a:xfrm>
          <a:prstGeom prst="rect">
            <a:avLst/>
          </a:prstGeom>
          <a:solidFill>
            <a:srgbClr val="1F252C"/>
          </a:solidFill>
          <a:ln w="9525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5"/>
          <p:cNvSpPr/>
          <p:nvPr/>
        </p:nvSpPr>
        <p:spPr>
          <a:xfrm>
            <a:off x="6629400" y="36118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FB71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問題点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50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「営業部」を改名すると、複数行を修正しなければならない（更新異常）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400800" y="4937760"/>
            <a:ext cx="5212080" cy="1188720"/>
          </a:xfrm>
          <a:prstGeom prst="rect">
            <a:avLst/>
          </a:prstGeom>
          <a:solidFill>
            <a:srgbClr val="0F4D49"/>
          </a:solidFill>
          <a:ln w="9525">
            <a:solidFill>
              <a:srgbClr val="B6F23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7"/>
          <p:cNvSpPr/>
          <p:nvPr/>
        </p:nvSpPr>
        <p:spPr>
          <a:xfrm>
            <a:off x="6629400" y="49834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B6F2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解決：第3正規形へ分解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50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社員(社員番号, 氏名, 部署コード)</a:t>
            </a:r>
            <a:br>
              <a:rPr lang="ja-JP" altLang="en-US"/>
            </a:br>
            <a:r>
              <a:rPr lang="en-US" sz="1350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部署(部署コード, 部署名)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9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2089404" cy="292608"/>
          </a:xfrm>
          <a:prstGeom prst="roundRect">
            <a:avLst>
              <a:gd name="adj" fmla="val 25000"/>
            </a:avLst>
          </a:prstGeom>
          <a:solidFill>
            <a:srgbClr val="28313A"/>
          </a:solidFill>
          <a:ln w="9525">
            <a:solidFill>
              <a:srgbClr val="2DD4B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NORMAL FORMS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正規化のステップ：従属関係を順に取り除く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 NORMALIZATION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291840" cy="3291840"/>
          </a:xfrm>
          <a:prstGeom prst="rect">
            <a:avLst/>
          </a:prstGeom>
          <a:solidFill>
            <a:srgbClr val="1F252C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1NF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第1正規形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3A1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すべてのセルが単一の値。繰り返し項目をラインごとに分ける。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297680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28313A"/>
          </a:solidFill>
          <a:ln w="9525">
            <a:solidFill>
              <a:srgbClr val="2DD4B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取り除く：繰り返し項目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931920" y="3383280"/>
            <a:ext cx="502920" cy="0"/>
          </a:xfrm>
          <a:prstGeom prst="line">
            <a:avLst/>
          </a:prstGeom>
          <a:noFill/>
          <a:ln w="25400">
            <a:solidFill>
              <a:srgbClr val="B6F23C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4526280" y="1737360"/>
            <a:ext cx="3291840" cy="3291840"/>
          </a:xfrm>
          <a:prstGeom prst="rect">
            <a:avLst/>
          </a:prstGeom>
          <a:solidFill>
            <a:srgbClr val="1F252C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800600" y="19659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2NF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800600" y="2651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第2正規形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800600" y="3108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3A1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1NFを満たし、かつ部分関数従属がない状態。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00600" y="4297680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28313A"/>
          </a:solidFill>
          <a:ln w="9525">
            <a:solidFill>
              <a:srgbClr val="2DD4B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取り除く：部分関数従属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909560" y="3383280"/>
            <a:ext cx="502920" cy="0"/>
          </a:xfrm>
          <a:prstGeom prst="line">
            <a:avLst/>
          </a:prstGeom>
          <a:noFill/>
          <a:ln w="25400">
            <a:solidFill>
              <a:srgbClr val="B6F23C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8503920" y="1737360"/>
            <a:ext cx="3291840" cy="3291840"/>
          </a:xfrm>
          <a:prstGeom prst="rect">
            <a:avLst/>
          </a:prstGeom>
          <a:solidFill>
            <a:srgbClr val="1F252C"/>
          </a:solidFill>
          <a:ln w="9525">
            <a:solidFill>
              <a:srgbClr val="B6F23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8778240" y="19659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B6F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3NF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8778240" y="2651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第3正規形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778240" y="3108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3A1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2NFを満たし、かつ推移関数従属がない状態。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778240" y="4297680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28313A"/>
          </a:solidFill>
          <a:ln w="9525">
            <a:solidFill>
              <a:srgbClr val="B6F2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6F2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取り除く：推移関数従属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303520"/>
            <a:ext cx="11064240" cy="868680"/>
          </a:xfrm>
          <a:prstGeom prst="rect">
            <a:avLst/>
          </a:prstGeom>
          <a:solidFill>
            <a:srgbClr val="0F4D49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822960" y="53035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6F2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覚え方：</a:t>
            </a:r>
            <a:r>
              <a:rPr lang="en-US" sz="1600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2NFは「キーの一部」で決まる列を、 3NFは「キー以外を経由」して決まる列を、じゃまな列として別表に切り出す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9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801368" cy="292608"/>
          </a:xfrm>
          <a:prstGeom prst="roundRect">
            <a:avLst>
              <a:gd name="adj" fmla="val 25000"/>
            </a:avLst>
          </a:prstGeom>
          <a:solidFill>
            <a:srgbClr val="28313A"/>
          </a:solidFill>
          <a:ln w="9525">
            <a:solidFill>
              <a:srgbClr val="2DD4B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EXAMPLE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例題1：部分関数従属を取り除いて第2正規形へ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 NORMALIZATION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A1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order_detail（主キー：注文番号 + 商品コード）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5303520" cy="164592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B6F23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注文番号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B6F23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商品コード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DD4B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商品名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DD4B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単価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DD4B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数量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1001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P01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ボールペン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120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1001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P02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ノート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200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1002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P01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ボールペン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120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1003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P03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定規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150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914400" y="3639312"/>
            <a:ext cx="0" cy="429768"/>
          </a:xfrm>
          <a:prstGeom prst="line">
            <a:avLst/>
          </a:prstGeom>
          <a:noFill/>
          <a:ln w="25400">
            <a:solidFill>
              <a:srgbClr val="B6F23C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6"/>
          <p:cNvSpPr/>
          <p:nvPr/>
        </p:nvSpPr>
        <p:spPr>
          <a:xfrm>
            <a:off x="1143000" y="3703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6F2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商品コードで決まる列を切り出す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41148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order_detail</a:t>
            </a:r>
            <a:endParaRPr lang="en-US" sz="12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07408"/>
          <a:ext cx="3108960" cy="164592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B6F23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注文番号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B6F23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商品コード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DD4B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数量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1001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P01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1001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P02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1002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P01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1003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P03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931920" y="41148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</a:t>
            </a:r>
            <a:endParaRPr lang="en-US" sz="12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4407408"/>
          <a:ext cx="3291840" cy="1316736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B6F23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商品コード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DD4B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商品名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DD4B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単価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P01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ボールペン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120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P02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ノート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200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P03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定規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150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7680960" y="1828800"/>
            <a:ext cx="3931920" cy="1280160"/>
          </a:xfrm>
          <a:prstGeom prst="rect">
            <a:avLst/>
          </a:prstGeom>
          <a:solidFill>
            <a:srgbClr val="1F252C"/>
          </a:solidFill>
          <a:ln w="9525">
            <a:solidFill>
              <a:srgbClr val="3A46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0"/>
          <p:cNvSpPr/>
          <p:nvPr/>
        </p:nvSpPr>
        <p:spPr>
          <a:xfrm>
            <a:off x="7863840" y="1965960"/>
            <a:ext cx="457200" cy="457200"/>
          </a:xfrm>
          <a:prstGeom prst="ellipse">
            <a:avLst/>
          </a:prstGeom>
          <a:solidFill>
            <a:srgbClr val="2DD4BF"/>
          </a:solidFill>
          <a:ln w="6350">
            <a:solidFill>
              <a:srgbClr val="2DD4B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19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8458200" y="1965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主キーを確認</a:t>
            </a:r>
            <a:endParaRPr lang="en-US" sz="1600" dirty="0"/>
          </a:p>
        </p:txBody>
      </p:sp>
      <p:sp>
        <p:nvSpPr>
          <p:cNvPr id="11" name="Text 12"/>
          <p:cNvSpPr/>
          <p:nvPr/>
        </p:nvSpPr>
        <p:spPr>
          <a:xfrm>
            <a:off x="7863840" y="248716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3A1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（注文番号, 商品コード）の複合キー。部分従属を調べる対象です。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7680960" y="3246120"/>
            <a:ext cx="3931920" cy="1280160"/>
          </a:xfrm>
          <a:prstGeom prst="rect">
            <a:avLst/>
          </a:prstGeom>
          <a:solidFill>
            <a:srgbClr val="1F252C"/>
          </a:solidFill>
          <a:ln w="9525">
            <a:solidFill>
              <a:srgbClr val="3A46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4"/>
          <p:cNvSpPr/>
          <p:nvPr/>
        </p:nvSpPr>
        <p:spPr>
          <a:xfrm>
            <a:off x="7863840" y="3383280"/>
            <a:ext cx="457200" cy="457200"/>
          </a:xfrm>
          <a:prstGeom prst="ellipse">
            <a:avLst/>
          </a:prstGeom>
          <a:solidFill>
            <a:srgbClr val="2DD4BF"/>
          </a:solidFill>
          <a:ln w="6350">
            <a:solidFill>
              <a:srgbClr val="2DD4B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19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458200" y="3383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従属関係を書き出す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7863840" y="390448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3A1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（注文番号, 商品コード）→ 数量：完全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3A1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商品コード → 商品名, 単価：部分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7680960" y="4663440"/>
            <a:ext cx="3931920" cy="1280160"/>
          </a:xfrm>
          <a:prstGeom prst="rect">
            <a:avLst/>
          </a:prstGeom>
          <a:solidFill>
            <a:srgbClr val="1F252C"/>
          </a:solidFill>
          <a:ln w="9525">
            <a:solidFill>
              <a:srgbClr val="B6F23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18"/>
          <p:cNvSpPr/>
          <p:nvPr/>
        </p:nvSpPr>
        <p:spPr>
          <a:xfrm>
            <a:off x="7863840" y="4800600"/>
            <a:ext cx="457200" cy="457200"/>
          </a:xfrm>
          <a:prstGeom prst="ellipse">
            <a:avLst/>
          </a:prstGeom>
          <a:solidFill>
            <a:srgbClr val="B6F23C"/>
          </a:solidFill>
          <a:ln w="6350">
            <a:solidFill>
              <a:srgbClr val="B6F2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19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8458200" y="4800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部分従属の列を別表へ</a:t>
            </a:r>
            <a:endParaRPr lang="en-US" sz="1600" dirty="0"/>
          </a:p>
        </p:txBody>
      </p:sp>
      <p:sp>
        <p:nvSpPr>
          <p:cNvPr id="13" name="Text 20"/>
          <p:cNvSpPr/>
          <p:nvPr/>
        </p:nvSpPr>
        <p:spPr>
          <a:xfrm>
            <a:off x="7863840" y="532180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3A1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商品コードを主キーに「商品」表を作る。これで第2正規形。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9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801368" cy="292608"/>
          </a:xfrm>
          <a:prstGeom prst="roundRect">
            <a:avLst>
              <a:gd name="adj" fmla="val 25000"/>
            </a:avLst>
          </a:prstGeom>
          <a:solidFill>
            <a:srgbClr val="28313A"/>
          </a:solidFill>
          <a:ln w="9525">
            <a:solidFill>
              <a:srgbClr val="2DD4B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EXAMPLE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例題2：推移関数従属を取り除いて第3正規形へ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 NORMALIZATION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566160" cy="1508760"/>
          </a:xfrm>
          <a:prstGeom prst="rect">
            <a:avLst/>
          </a:prstGeom>
          <a:solidFill>
            <a:srgbClr val="1F252C"/>
          </a:solidFill>
          <a:ln w="9525">
            <a:solidFill>
              <a:srgbClr val="3A46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457200" cy="457200"/>
          </a:xfrm>
          <a:prstGeom prst="ellipse">
            <a:avLst/>
          </a:prstGeom>
          <a:solidFill>
            <a:srgbClr val="2DD4BF"/>
          </a:solidFill>
          <a:ln w="6350">
            <a:solidFill>
              <a:srgbClr val="2DD4B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19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1828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主キーを確認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3A1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学籍番号のみの単一キー。部分従属はなく、すでに第2正規形です。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97680" y="1691640"/>
            <a:ext cx="3566160" cy="1508760"/>
          </a:xfrm>
          <a:prstGeom prst="rect">
            <a:avLst/>
          </a:prstGeom>
          <a:solidFill>
            <a:srgbClr val="1F252C"/>
          </a:solidFill>
          <a:ln w="9525">
            <a:solidFill>
              <a:srgbClr val="3A46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480560" y="1828800"/>
            <a:ext cx="457200" cy="457200"/>
          </a:xfrm>
          <a:prstGeom prst="ellipse">
            <a:avLst/>
          </a:prstGeom>
          <a:solidFill>
            <a:srgbClr val="2DD4BF"/>
          </a:solidFill>
          <a:ln w="6350">
            <a:solidFill>
              <a:srgbClr val="2DD4B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19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74920" y="1828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従属関係を書き出す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80560" y="23774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3A1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学籍番号 → 学科コード → 学科名。学籍番号 → 学科名は推移従属。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566160" cy="1508760"/>
          </a:xfrm>
          <a:prstGeom prst="rect">
            <a:avLst/>
          </a:prstGeom>
          <a:solidFill>
            <a:srgbClr val="1F252C"/>
          </a:solidFill>
          <a:ln w="9525">
            <a:solidFill>
              <a:srgbClr val="B6F23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8229600" y="1828800"/>
            <a:ext cx="457200" cy="457200"/>
          </a:xfrm>
          <a:prstGeom prst="ellipse">
            <a:avLst/>
          </a:prstGeom>
          <a:solidFill>
            <a:srgbClr val="B6F23C"/>
          </a:solidFill>
          <a:ln w="6350">
            <a:solidFill>
              <a:srgbClr val="B6F2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19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823960" y="1828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推移従属の列を別表へ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0" y="23774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3A1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学科コードを主キーに「学科」表を作る。これで第3正規形。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3474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A1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student（分解前）</a:t>
            </a:r>
            <a:endParaRPr lang="en-US" sz="1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5029200" cy="18288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B6F23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学籍番号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DD4B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氏名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DD4B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学科コード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DD4B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学科名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S01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佐藤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IS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B718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情報工学科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S02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鈴木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BA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B718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経営学科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S03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高橋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IS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B718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情報工学科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S04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伊藤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BA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B718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経営学科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5760720" y="4754880"/>
            <a:ext cx="548640" cy="0"/>
          </a:xfrm>
          <a:prstGeom prst="line">
            <a:avLst/>
          </a:prstGeom>
          <a:noFill/>
          <a:ln w="25400">
            <a:solidFill>
              <a:srgbClr val="B6F23C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8"/>
          <p:cNvSpPr/>
          <p:nvPr/>
        </p:nvSpPr>
        <p:spPr>
          <a:xfrm>
            <a:off x="6400800" y="3474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endParaRPr lang="en-US" sz="12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3794760"/>
          <a:ext cx="2834640" cy="18288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B6F23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学籍番号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DD4B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氏名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DD4B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学科コード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S01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佐藤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IS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S02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鈴木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BA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S03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高橋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IS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S04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伊藤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BA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Text 19"/>
          <p:cNvSpPr/>
          <p:nvPr/>
        </p:nvSpPr>
        <p:spPr>
          <a:xfrm>
            <a:off x="9418320" y="3474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</a:t>
            </a:r>
            <a:endParaRPr lang="en-US" sz="1200" dirty="0"/>
          </a:p>
        </p:txBody>
      </p:sp>
      <p:graphicFrame>
        <p:nvGraphicFramePr>
          <p:cNvPr id="2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418320" y="3794760"/>
          <a:ext cx="2194560" cy="109728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B6F23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学科コード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DD4B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学科名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IS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情報工学科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BA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経営学科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Text 20"/>
          <p:cNvSpPr/>
          <p:nvPr/>
        </p:nvSpPr>
        <p:spPr>
          <a:xfrm>
            <a:off x="6400800" y="58064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6F2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学科名は1か所だけで管理。改名もこの表の1行を直すだけで済む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19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801368" cy="292608"/>
          </a:xfrm>
          <a:prstGeom prst="roundRect">
            <a:avLst>
              <a:gd name="adj" fmla="val 25000"/>
            </a:avLst>
          </a:prstGeom>
          <a:solidFill>
            <a:srgbClr val="28313A"/>
          </a:solidFill>
          <a:ln w="9525">
            <a:solidFill>
              <a:srgbClr val="2DD4B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EXERCISES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演習問題（問1～問3）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 NORMALIZATION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566160" cy="4389120"/>
          </a:xfrm>
          <a:prstGeom prst="rect">
            <a:avLst/>
          </a:prstGeom>
          <a:solidFill>
            <a:srgbClr val="1F252C"/>
          </a:solidFill>
          <a:ln w="9525">
            <a:solidFill>
              <a:srgbClr val="3A46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777240" y="1920240"/>
            <a:ext cx="822960" cy="411480"/>
          </a:xfrm>
          <a:prstGeom prst="roundRect">
            <a:avLst>
              <a:gd name="adj" fmla="val 17778"/>
            </a:avLst>
          </a:prstGeom>
          <a:solidFill>
            <a:srgbClr val="B6F23C"/>
          </a:solidFill>
          <a:ln w="6350">
            <a:solidFill>
              <a:srgbClr val="B6F2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19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377440" y="19202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D4B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基礎・推移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514600"/>
            <a:ext cx="3108960" cy="1325880"/>
          </a:xfrm>
          <a:prstGeom prst="rect">
            <a:avLst/>
          </a:prstGeom>
          <a:solidFill>
            <a:srgbClr val="28313A"/>
          </a:solidFill>
          <a:ln w="9525">
            <a:solidFill>
              <a:srgbClr val="3A4651"/>
            </a:solidFill>
          </a:ln>
        </p:spPr>
        <p:txBody>
          <a:bodyPr wrap="square" lIns="164592" tIns="91440" rIns="164592" bIns="9144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図書(図書ID, 書名, 出版社コード, 出版社名, 出版社所在地)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B6F2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主キー：図書ID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39776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  </a:t>
            </a:r>
            <a:r>
              <a:rPr lang="en-US" sz="1400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推移関数従属している列をすべて挙げ、経由する列も答えよ。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5257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3A1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ヒント：「キー以外の列」から決まる列を探す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1691640"/>
            <a:ext cx="3566160" cy="4389120"/>
          </a:xfrm>
          <a:prstGeom prst="rect">
            <a:avLst/>
          </a:prstGeom>
          <a:solidFill>
            <a:srgbClr val="1F252C"/>
          </a:solidFill>
          <a:ln w="9525">
            <a:solidFill>
              <a:srgbClr val="3A46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526280" y="1920240"/>
            <a:ext cx="822960" cy="411480"/>
          </a:xfrm>
          <a:prstGeom prst="roundRect">
            <a:avLst>
              <a:gd name="adj" fmla="val 17778"/>
            </a:avLst>
          </a:prstGeom>
          <a:solidFill>
            <a:srgbClr val="B6F23C"/>
          </a:solidFill>
          <a:ln w="6350">
            <a:solidFill>
              <a:srgbClr val="B6F2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19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126480" y="19202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D4B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基礎・部分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26280" y="2514600"/>
            <a:ext cx="3108960" cy="1325880"/>
          </a:xfrm>
          <a:prstGeom prst="rect">
            <a:avLst/>
          </a:prstGeom>
          <a:solidFill>
            <a:srgbClr val="28313A"/>
          </a:solidFill>
          <a:ln w="9525">
            <a:solidFill>
              <a:srgbClr val="3A4651"/>
            </a:solidFill>
          </a:ln>
        </p:spPr>
        <p:txBody>
          <a:bodyPr wrap="square" lIns="164592" tIns="91440" rIns="164592" bIns="9144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受講(学生番号, 科目コード, 学生名, 科目名, 成績)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B6F2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主キー：(学生番号, 科目コード)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26280" y="39776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  </a:t>
            </a:r>
            <a:r>
              <a:rPr lang="en-US" sz="1400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部分関数従属をすべて書き出せ。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26280" y="5257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3A1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ヒント：キーの一方だけで決まる列はどれか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6720" y="1691640"/>
            <a:ext cx="3566160" cy="4389120"/>
          </a:xfrm>
          <a:prstGeom prst="rect">
            <a:avLst/>
          </a:prstGeom>
          <a:solidFill>
            <a:srgbClr val="1F252C"/>
          </a:solidFill>
          <a:ln w="9525">
            <a:solidFill>
              <a:srgbClr val="3A46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8275320" y="1920240"/>
            <a:ext cx="822960" cy="411480"/>
          </a:xfrm>
          <a:prstGeom prst="roundRect">
            <a:avLst>
              <a:gd name="adj" fmla="val 17778"/>
            </a:avLst>
          </a:prstGeom>
          <a:solidFill>
            <a:srgbClr val="B6F23C"/>
          </a:solidFill>
          <a:ln w="6350">
            <a:solidFill>
              <a:srgbClr val="B6F2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19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875520" y="19202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D4B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標準・正規形の判定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75320" y="2514600"/>
            <a:ext cx="3108960" cy="1325880"/>
          </a:xfrm>
          <a:prstGeom prst="rect">
            <a:avLst/>
          </a:prstGeom>
          <a:solidFill>
            <a:srgbClr val="28313A"/>
          </a:solidFill>
          <a:ln w="9525">
            <a:solidFill>
              <a:srgbClr val="3A4651"/>
            </a:solidFill>
          </a:ln>
        </p:spPr>
        <p:txBody>
          <a:bodyPr wrap="square" lIns="164592" tIns="91440" rIns="164592" bIns="9144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在庫(倉庫コード, 商品コード, 数量, 倉庫所在地)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B6F2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主キー：(倉庫コード, 商品コード)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275320" y="39776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  </a:t>
            </a:r>
            <a:r>
              <a:rPr lang="en-US" sz="1400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この表は第何正規形か。理由とともに答えよ。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75320" y="5257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3A1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ヒント：部分関数従属があるとどうなるか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9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801368" cy="292608"/>
          </a:xfrm>
          <a:prstGeom prst="roundRect">
            <a:avLst>
              <a:gd name="adj" fmla="val 25000"/>
            </a:avLst>
          </a:prstGeom>
          <a:solidFill>
            <a:srgbClr val="28313A"/>
          </a:solidFill>
          <a:ln w="9525">
            <a:solidFill>
              <a:srgbClr val="2DD4B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EXERCISES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演習問題（問4～問5）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 NORMALIZATION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440680" cy="4389120"/>
          </a:xfrm>
          <a:prstGeom prst="rect">
            <a:avLst/>
          </a:prstGeom>
          <a:solidFill>
            <a:srgbClr val="1F252C"/>
          </a:solidFill>
          <a:ln w="9525">
            <a:solidFill>
              <a:srgbClr val="3A46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777240" y="1920240"/>
            <a:ext cx="822960" cy="411480"/>
          </a:xfrm>
          <a:prstGeom prst="roundRect">
            <a:avLst>
              <a:gd name="adj" fmla="val 17778"/>
            </a:avLst>
          </a:prstGeom>
          <a:solidFill>
            <a:srgbClr val="B6F23C"/>
          </a:solidFill>
          <a:ln w="6350">
            <a:solidFill>
              <a:srgbClr val="B6F2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19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Q4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794760" y="19202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D4B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応用・第3正規形へ分解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514600"/>
            <a:ext cx="4983480" cy="1325880"/>
          </a:xfrm>
          <a:prstGeom prst="rect">
            <a:avLst/>
          </a:prstGeom>
          <a:solidFill>
            <a:srgbClr val="28313A"/>
          </a:solidFill>
          <a:ln w="9525">
            <a:solidFill>
              <a:srgbClr val="3A4651"/>
            </a:solidFill>
          </a:ln>
        </p:spPr>
        <p:txBody>
          <a:bodyPr wrap="square" lIns="164592" tIns="91440" rIns="164592" bIns="9144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注文明細(注文番号, 商品コード, 商品名, 単価, 数量, 顧客コード, 顧客名)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B6F2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主キー：(注文番号, 商品コード)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97764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  </a:t>
            </a:r>
            <a:r>
              <a:rPr lang="en-US" sz="1400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部分関数従属と推移関数従属をすべて指摘し、第3正規形まで分解せよ。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525780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3A1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ヒント：部分従属→推移従属の順で。分解後は4つの表になります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1691640"/>
            <a:ext cx="5440680" cy="4389120"/>
          </a:xfrm>
          <a:prstGeom prst="rect">
            <a:avLst/>
          </a:prstGeom>
          <a:solidFill>
            <a:srgbClr val="1F252C"/>
          </a:solidFill>
          <a:ln w="9525">
            <a:solidFill>
              <a:srgbClr val="3A46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6400800" y="1920240"/>
            <a:ext cx="822960" cy="411480"/>
          </a:xfrm>
          <a:prstGeom prst="roundRect">
            <a:avLst>
              <a:gd name="adj" fmla="val 17778"/>
            </a:avLst>
          </a:prstGeom>
          <a:solidFill>
            <a:srgbClr val="B6F23C"/>
          </a:solidFill>
          <a:ln w="6350">
            <a:solidFill>
              <a:srgbClr val="B6F2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19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Q5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418320" y="19202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D4B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理解・正誤問題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514600"/>
            <a:ext cx="4983480" cy="1325880"/>
          </a:xfrm>
          <a:prstGeom prst="rect">
            <a:avLst/>
          </a:prstGeom>
          <a:solidFill>
            <a:srgbClr val="28313A"/>
          </a:solidFill>
          <a:ln w="9525">
            <a:solidFill>
              <a:srgbClr val="3A4651"/>
            </a:solidFill>
          </a:ln>
        </p:spPr>
        <p:txBody>
          <a:bodyPr wrap="square" lIns="164592" tIns="91440" rIns="164592" bIns="9144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「主キーが1つの列だけで構成される表では、部分関数従属は発生しない。」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397764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  </a:t>
            </a:r>
            <a:r>
              <a:rPr lang="en-US" sz="1400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この記述は正しいか。理由もあわせて答えよ。さらに、そのような表でも起こりうる従属を答えよ。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525780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3A1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ヒント：部分従属は「キーの一部」が前提。キー以外を経由する関係は？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19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609344" cy="292608"/>
          </a:xfrm>
          <a:prstGeom prst="roundRect">
            <a:avLst>
              <a:gd name="adj" fmla="val 25000"/>
            </a:avLst>
          </a:prstGeom>
          <a:solidFill>
            <a:srgbClr val="28313A"/>
          </a:solidFill>
          <a:ln w="9525">
            <a:solidFill>
              <a:srgbClr val="2DD4B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ANSWERS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解答と解説（問1～問3）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 NORMALIZATION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566160" cy="4389120"/>
          </a:xfrm>
          <a:prstGeom prst="rect">
            <a:avLst/>
          </a:prstGeom>
          <a:solidFill>
            <a:srgbClr val="1F252C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777240" y="1920240"/>
            <a:ext cx="822960" cy="411480"/>
          </a:xfrm>
          <a:prstGeom prst="roundRect">
            <a:avLst>
              <a:gd name="adj" fmla="val 17778"/>
            </a:avLst>
          </a:prstGeom>
          <a:solidFill>
            <a:srgbClr val="B6F23C"/>
          </a:solidFill>
          <a:ln w="6350">
            <a:solidFill>
              <a:srgbClr val="B6F2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19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B6F2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出版社名・出版社所在地（経由する列：出版社コード）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4747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図書ID → 出版社コード → 出版社名、出版社所在地。出版社コードは主キーではないため推移従属です。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4663440"/>
            <a:ext cx="3108960" cy="1234440"/>
          </a:xfrm>
          <a:prstGeom prst="rect">
            <a:avLst/>
          </a:prstGeom>
          <a:solidFill>
            <a:srgbClr val="0F4D49"/>
          </a:solidFill>
          <a:ln w="9525">
            <a:solidFill>
              <a:srgbClr val="2DD4BF"/>
            </a:solidFill>
          </a:ln>
        </p:spPr>
        <p:txBody>
          <a:bodyPr wrap="square" lIns="164592" tIns="91440" rIns="164592" bIns="9144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図書(図書ID, 書名, 出版社コード)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出版社(出版社コード, 出版社名, 出版社所在地)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97680" y="1691640"/>
            <a:ext cx="3566160" cy="4389120"/>
          </a:xfrm>
          <a:prstGeom prst="rect">
            <a:avLst/>
          </a:prstGeom>
          <a:solidFill>
            <a:srgbClr val="1F252C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4526280" y="1920240"/>
            <a:ext cx="822960" cy="411480"/>
          </a:xfrm>
          <a:prstGeom prst="roundRect">
            <a:avLst>
              <a:gd name="adj" fmla="val 17778"/>
            </a:avLst>
          </a:prstGeom>
          <a:solidFill>
            <a:srgbClr val="B6F23C"/>
          </a:solidFill>
          <a:ln w="6350">
            <a:solidFill>
              <a:srgbClr val="B6F2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19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26280" y="24688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B6F2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学生番号 → 学生名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B6F2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科目コード → 科目名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26280" y="34747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どちらもキーの一部で決まる部分従属。成績は両方そろって決まる完全従属です。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26280" y="4663440"/>
            <a:ext cx="3108960" cy="1234440"/>
          </a:xfrm>
          <a:prstGeom prst="rect">
            <a:avLst/>
          </a:prstGeom>
          <a:solidFill>
            <a:srgbClr val="0F4D49"/>
          </a:solidFill>
          <a:ln w="9525">
            <a:solidFill>
              <a:srgbClr val="2DD4BF"/>
            </a:solidFill>
          </a:ln>
        </p:spPr>
        <p:txBody>
          <a:bodyPr wrap="square" lIns="164592" tIns="91440" rIns="164592" bIns="9144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学生(学生番号, 学生名)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科目(科目コード, 科目名)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受講(学生番号, 科目コード, 成績)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46720" y="1691640"/>
            <a:ext cx="3566160" cy="4389120"/>
          </a:xfrm>
          <a:prstGeom prst="rect">
            <a:avLst/>
          </a:prstGeom>
          <a:solidFill>
            <a:srgbClr val="1F252C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8275320" y="1920240"/>
            <a:ext cx="822960" cy="411480"/>
          </a:xfrm>
          <a:prstGeom prst="roundRect">
            <a:avLst>
              <a:gd name="adj" fmla="val 17778"/>
            </a:avLst>
          </a:prstGeom>
          <a:solidFill>
            <a:srgbClr val="B6F23C"/>
          </a:solidFill>
          <a:ln w="6350">
            <a:solidFill>
              <a:srgbClr val="B6F2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19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75320" y="24688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B6F2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第1正規形（第2正規形ではない）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75320" y="34747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倉庫コード → 倉庫所在地という部分関数従属があるため、第2正規形を満たしません。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75320" y="4663440"/>
            <a:ext cx="3108960" cy="1234440"/>
          </a:xfrm>
          <a:prstGeom prst="rect">
            <a:avLst/>
          </a:prstGeom>
          <a:solidFill>
            <a:srgbClr val="0F4D49"/>
          </a:solidFill>
          <a:ln w="9525">
            <a:solidFill>
              <a:srgbClr val="2DD4BF"/>
            </a:solidFill>
          </a:ln>
        </p:spPr>
        <p:txBody>
          <a:bodyPr wrap="square" lIns="164592" tIns="91440" rIns="164592" bIns="9144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在庫(倉庫コード, 商品コード, 数量)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倉庫(倉庫コード, 倉庫所在地)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19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609344" cy="292608"/>
          </a:xfrm>
          <a:prstGeom prst="roundRect">
            <a:avLst>
              <a:gd name="adj" fmla="val 25000"/>
            </a:avLst>
          </a:prstGeom>
          <a:solidFill>
            <a:srgbClr val="28313A"/>
          </a:solidFill>
          <a:ln w="9525">
            <a:solidFill>
              <a:srgbClr val="2DD4B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ANSWERS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解答と解説（問4～問5）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 NORMALIZATION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440680" cy="4389120"/>
          </a:xfrm>
          <a:prstGeom prst="rect">
            <a:avLst/>
          </a:prstGeom>
          <a:solidFill>
            <a:srgbClr val="1F252C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777240" y="1920240"/>
            <a:ext cx="822960" cy="411480"/>
          </a:xfrm>
          <a:prstGeom prst="roundRect">
            <a:avLst>
              <a:gd name="adj" fmla="val 17778"/>
            </a:avLst>
          </a:prstGeom>
          <a:solidFill>
            <a:srgbClr val="B6F23C"/>
          </a:solidFill>
          <a:ln w="6350">
            <a:solidFill>
              <a:srgbClr val="B6F2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19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A4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B71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部分関数従属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商品コード → 商品名, 単価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注文番号 → 顧客コード, 顧客名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B71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推移関数従属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注文番号 → 顧客コード → 顧客名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4206240"/>
            <a:ext cx="4983480" cy="1691640"/>
          </a:xfrm>
          <a:prstGeom prst="rect">
            <a:avLst/>
          </a:prstGeom>
          <a:solidFill>
            <a:srgbClr val="0F4D49"/>
          </a:solidFill>
          <a:ln w="9525">
            <a:solidFill>
              <a:srgbClr val="2DD4BF"/>
            </a:solidFill>
          </a:ln>
        </p:spPr>
        <p:txBody>
          <a:bodyPr wrap="square" lIns="164592" tIns="91440" rIns="164592" bIns="9144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注文(注文番号, 顧客コード)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顧客(顧客コード, 顧客名)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商品(商品コード, 商品名, 単価)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注文明細(注文番号, 商品コード, 数量)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72200" y="1691640"/>
            <a:ext cx="5440680" cy="4389120"/>
          </a:xfrm>
          <a:prstGeom prst="rect">
            <a:avLst/>
          </a:prstGeom>
          <a:solidFill>
            <a:srgbClr val="1F252C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6400800" y="1920240"/>
            <a:ext cx="822960" cy="411480"/>
          </a:xfrm>
          <a:prstGeom prst="roundRect">
            <a:avLst>
              <a:gd name="adj" fmla="val 17778"/>
            </a:avLst>
          </a:prstGeom>
          <a:solidFill>
            <a:srgbClr val="B6F23C"/>
          </a:solidFill>
          <a:ln w="6350">
            <a:solidFill>
              <a:srgbClr val="B6F2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19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A5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6F2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正しい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400800" y="315468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部分関数従属は「複合キーの一部で決まる」関係です。キーが1列だけなら「一部」というものが存在しません。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4206240"/>
            <a:ext cx="4983480" cy="1691640"/>
          </a:xfrm>
          <a:prstGeom prst="rect">
            <a:avLst/>
          </a:prstGeom>
          <a:solidFill>
            <a:srgbClr val="0F4D49"/>
          </a:solidFill>
          <a:ln w="9525">
            <a:solidFill>
              <a:srgbClr val="2DD4BF"/>
            </a:solidFill>
          </a:ln>
        </p:spPr>
        <p:txBody>
          <a:bodyPr wrap="square" lIns="164592" tIns="91440" rIns="164592" bIns="9144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B6F2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とはいえ、推移関数従属は起こりうる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例：図書ID → 出版社コード → 出版社名（Q1）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519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609344" cy="292608"/>
          </a:xfrm>
          <a:prstGeom prst="roundRect">
            <a:avLst>
              <a:gd name="adj" fmla="val 25000"/>
            </a:avLst>
          </a:prstGeom>
          <a:solidFill>
            <a:srgbClr val="28313A"/>
          </a:solidFill>
          <a:ln w="9525">
            <a:solidFill>
              <a:srgbClr val="2DD4B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まとめ：3つの従属と正規化の進め方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 NORMALIZATION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25603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DD4B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種類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DD4B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意味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DD4B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例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DD4B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対処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DD4B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関数従属  A → B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Aが決まればBがひとつに決まる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学生番号 → 学生名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正規化の手がかり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B718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部分関数従属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複合キーの一部だけで決まる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科目コード → 科目名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第2正規形で別表へ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B718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推移関数従属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キー以外の列を経由して決まる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社員番号 → 部署コード → 部署名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EF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第3正規形で別表へ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5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526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正規化チェックリスト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4983480"/>
            <a:ext cx="3383280" cy="1097280"/>
          </a:xfrm>
          <a:prstGeom prst="rect">
            <a:avLst/>
          </a:prstGeom>
          <a:solidFill>
            <a:srgbClr val="1F252C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6"/>
          <p:cNvSpPr/>
          <p:nvPr/>
        </p:nvSpPr>
        <p:spPr>
          <a:xfrm>
            <a:off x="731520" y="5212080"/>
            <a:ext cx="457200" cy="457200"/>
          </a:xfrm>
          <a:prstGeom prst="ellipse">
            <a:avLst/>
          </a:prstGeom>
          <a:solidFill>
            <a:srgbClr val="2DD4BF"/>
          </a:solidFill>
          <a:ln w="6350">
            <a:solidFill>
              <a:srgbClr val="2DD4B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19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25880" y="50292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主キーを決める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005072" y="5532120"/>
            <a:ext cx="310896" cy="0"/>
          </a:xfrm>
          <a:prstGeom prst="line">
            <a:avLst/>
          </a:prstGeom>
          <a:noFill/>
          <a:ln w="25400">
            <a:solidFill>
              <a:srgbClr val="B6F23C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9"/>
          <p:cNvSpPr/>
          <p:nvPr/>
        </p:nvSpPr>
        <p:spPr>
          <a:xfrm>
            <a:off x="4389120" y="4983480"/>
            <a:ext cx="3383280" cy="1097280"/>
          </a:xfrm>
          <a:prstGeom prst="rect">
            <a:avLst/>
          </a:prstGeom>
          <a:solidFill>
            <a:srgbClr val="1F252C"/>
          </a:solidFill>
          <a:ln w="952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0"/>
          <p:cNvSpPr/>
          <p:nvPr/>
        </p:nvSpPr>
        <p:spPr>
          <a:xfrm>
            <a:off x="4572000" y="5212080"/>
            <a:ext cx="457200" cy="457200"/>
          </a:xfrm>
          <a:prstGeom prst="ellipse">
            <a:avLst/>
          </a:prstGeom>
          <a:solidFill>
            <a:srgbClr val="2DD4BF"/>
          </a:solidFill>
          <a:ln w="6350">
            <a:solidFill>
              <a:srgbClr val="2DD4B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19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166360" y="50292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キーの一部で決まる列を別表へ（2NF）</a:t>
            </a:r>
            <a:endParaRPr lang="en-US" sz="1400" dirty="0"/>
          </a:p>
        </p:txBody>
      </p:sp>
      <p:sp>
        <p:nvSpPr>
          <p:cNvPr id="6" name="Shape 12"/>
          <p:cNvSpPr/>
          <p:nvPr/>
        </p:nvSpPr>
        <p:spPr>
          <a:xfrm>
            <a:off x="7845552" y="5532120"/>
            <a:ext cx="310896" cy="0"/>
          </a:xfrm>
          <a:prstGeom prst="line">
            <a:avLst/>
          </a:prstGeom>
          <a:noFill/>
          <a:ln w="25400">
            <a:solidFill>
              <a:srgbClr val="B6F23C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3"/>
          <p:cNvSpPr/>
          <p:nvPr/>
        </p:nvSpPr>
        <p:spPr>
          <a:xfrm>
            <a:off x="8229600" y="4983480"/>
            <a:ext cx="3383280" cy="1097280"/>
          </a:xfrm>
          <a:prstGeom prst="rect">
            <a:avLst/>
          </a:prstGeom>
          <a:solidFill>
            <a:srgbClr val="1F252C"/>
          </a:solidFill>
          <a:ln w="9525">
            <a:solidFill>
              <a:srgbClr val="B6F23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4"/>
          <p:cNvSpPr/>
          <p:nvPr/>
        </p:nvSpPr>
        <p:spPr>
          <a:xfrm>
            <a:off x="8412480" y="5212080"/>
            <a:ext cx="457200" cy="457200"/>
          </a:xfrm>
          <a:prstGeom prst="ellipse">
            <a:avLst/>
          </a:prstGeom>
          <a:solidFill>
            <a:srgbClr val="B6F23C"/>
          </a:solidFill>
          <a:ln w="6350">
            <a:solidFill>
              <a:srgbClr val="B6F2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19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006840" y="50292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E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キー以外を経由する列を別表へ（3NF）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1123</Words>
  <Application>Microsoft Office PowerPoint</Application>
  <PresentationFormat>ワイド画面</PresentationFormat>
  <Paragraphs>427</Paragraphs>
  <Slides>14</Slides>
  <Notes>14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Yu Gothic</vt:lpstr>
      <vt:lpstr>Arial</vt:lpstr>
      <vt:lpstr>Calibri</vt:lpstr>
      <vt:lpstr>Consolas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Hattori, Takao</dc:creator>
  <cp:lastModifiedBy>Hattori, Takao</cp:lastModifiedBy>
  <cp:revision>1</cp:revision>
  <dcterms:created xsi:type="dcterms:W3CDTF">2026-10-29T06:36:53Z</dcterms:created>
  <dcterms:modified xsi:type="dcterms:W3CDTF">2026-10-29T06:45:29Z</dcterms:modified>
</cp:coreProperties>
</file>