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データ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F4D3A"/>
              </a:solidFill>
              <a:ln w="9525" cap="flat">
                <a:solidFill>
                  <a:srgbClr val="1F4D3A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2.1</c:v>
                </c:pt>
                <c:pt idx="1">
                  <c:v>2.8</c:v>
                </c:pt>
                <c:pt idx="2">
                  <c:v>2.6</c:v>
                </c:pt>
                <c:pt idx="3">
                  <c:v>4</c:v>
                </c:pt>
                <c:pt idx="4">
                  <c:v>4.4000000000000004</c:v>
                </c:pt>
                <c:pt idx="5">
                  <c:v>4.0999999999999996</c:v>
                </c:pt>
                <c:pt idx="6">
                  <c:v>5.8</c:v>
                </c:pt>
                <c:pt idx="7">
                  <c:v>6.2</c:v>
                </c:pt>
                <c:pt idx="8">
                  <c:v>6</c:v>
                </c:pt>
                <c:pt idx="9">
                  <c:v>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78E-45DE-8C51-DA6720FA0F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正規分布</c:v>
                </c:pt>
              </c:strCache>
            </c:strRef>
          </c:tx>
          <c:spPr>
            <a:solidFill>
              <a:srgbClr val="8DAA7F"/>
            </a:solidFill>
            <a:effectLst/>
          </c:spPr>
          <c:cat>
            <c:strRef>
              <c:f>Sheet1!$A$2:$A$14</c:f>
              <c:strCache>
                <c:ptCount val="13"/>
                <c:pt idx="0">
                  <c:v>−3σ</c:v>
                </c:pt>
                <c:pt idx="1">
                  <c:v> </c:v>
                </c:pt>
                <c:pt idx="2">
                  <c:v>−2σ</c:v>
                </c:pt>
                <c:pt idx="3">
                  <c:v> </c:v>
                </c:pt>
                <c:pt idx="4">
                  <c:v>−1σ</c:v>
                </c:pt>
                <c:pt idx="5">
                  <c:v> </c:v>
                </c:pt>
                <c:pt idx="6">
                  <c:v>μ</c:v>
                </c:pt>
                <c:pt idx="7">
                  <c:v> </c:v>
                </c:pt>
                <c:pt idx="8">
                  <c:v>+1σ</c:v>
                </c:pt>
                <c:pt idx="9">
                  <c:v> </c:v>
                </c:pt>
                <c:pt idx="10">
                  <c:v>+2σ</c:v>
                </c:pt>
                <c:pt idx="11">
                  <c:v> </c:v>
                </c:pt>
                <c:pt idx="12">
                  <c:v>+3σ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1.0999999999999999E-2</c:v>
                </c:pt>
                <c:pt idx="1">
                  <c:v>4.3999999999999997E-2</c:v>
                </c:pt>
                <c:pt idx="2">
                  <c:v>0.13500000000000001</c:v>
                </c:pt>
                <c:pt idx="3">
                  <c:v>0.32500000000000001</c:v>
                </c:pt>
                <c:pt idx="4">
                  <c:v>0.60699999999999998</c:v>
                </c:pt>
                <c:pt idx="5">
                  <c:v>0.88200000000000001</c:v>
                </c:pt>
                <c:pt idx="6">
                  <c:v>1</c:v>
                </c:pt>
                <c:pt idx="7">
                  <c:v>0.88200000000000001</c:v>
                </c:pt>
                <c:pt idx="8">
                  <c:v>0.60699999999999998</c:v>
                </c:pt>
                <c:pt idx="9">
                  <c:v>0.32500000000000001</c:v>
                </c:pt>
                <c:pt idx="10">
                  <c:v>0.13500000000000001</c:v>
                </c:pt>
                <c:pt idx="11">
                  <c:v>4.3999999999999997E-2</c:v>
                </c:pt>
                <c:pt idx="12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7-41BD-BFAC-C707C7313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10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JAPAN STATISTICAL SOCIETY CERTIFICATE  GRADE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試験内容ガイド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出題範囲と学習の進め方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A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2026年10月時点の公式情報をもとに作成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06640" y="5120640"/>
            <a:ext cx="384048" cy="548640"/>
          </a:xfrm>
          <a:prstGeom prst="roundRect">
            <a:avLst>
              <a:gd name="adj" fmla="val 11905"/>
            </a:avLst>
          </a:prstGeom>
          <a:solidFill>
            <a:srgbClr val="5F8A6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882128" y="4663440"/>
            <a:ext cx="384048" cy="1005840"/>
          </a:xfrm>
          <a:prstGeom prst="roundRect">
            <a:avLst>
              <a:gd name="adj" fmla="val 11905"/>
            </a:avLst>
          </a:prstGeom>
          <a:solidFill>
            <a:srgbClr val="8DAA7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357616" y="4023360"/>
            <a:ext cx="384048" cy="1645920"/>
          </a:xfrm>
          <a:prstGeom prst="roundRect">
            <a:avLst>
              <a:gd name="adj" fmla="val 11905"/>
            </a:avLst>
          </a:prstGeom>
          <a:solidFill>
            <a:srgbClr val="5F8A6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833104" y="3291840"/>
            <a:ext cx="384048" cy="2377440"/>
          </a:xfrm>
          <a:prstGeom prst="roundRect">
            <a:avLst>
              <a:gd name="adj" fmla="val 11905"/>
            </a:avLst>
          </a:prstGeom>
          <a:solidFill>
            <a:srgbClr val="8DAA7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308592" y="2651760"/>
            <a:ext cx="384048" cy="3017520"/>
          </a:xfrm>
          <a:prstGeom prst="roundRect">
            <a:avLst>
              <a:gd name="adj" fmla="val 11905"/>
            </a:avLst>
          </a:prstGeom>
          <a:solidFill>
            <a:srgbClr val="E8B93B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0" y="3291840"/>
            <a:ext cx="384048" cy="2377440"/>
          </a:xfrm>
          <a:prstGeom prst="roundRect">
            <a:avLst>
              <a:gd name="adj" fmla="val 11905"/>
            </a:avLst>
          </a:prstGeom>
          <a:solidFill>
            <a:srgbClr val="8DAA7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0259568" y="4023360"/>
            <a:ext cx="384048" cy="1645920"/>
          </a:xfrm>
          <a:prstGeom prst="roundRect">
            <a:avLst>
              <a:gd name="adj" fmla="val 11905"/>
            </a:avLst>
          </a:prstGeom>
          <a:solidFill>
            <a:srgbClr val="5F8A6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735056" y="4663440"/>
            <a:ext cx="384048" cy="1005840"/>
          </a:xfrm>
          <a:prstGeom prst="roundRect">
            <a:avLst>
              <a:gd name="adj" fmla="val 11905"/>
            </a:avLst>
          </a:prstGeom>
          <a:solidFill>
            <a:srgbClr val="8DAA7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210544" y="5120640"/>
            <a:ext cx="384048" cy="548640"/>
          </a:xfrm>
          <a:prstGeom prst="roundRect">
            <a:avLst>
              <a:gd name="adj" fmla="val 11905"/>
            </a:avLst>
          </a:prstGeom>
          <a:solidFill>
            <a:srgbClr val="5F8A6F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034272" y="57607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CE5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統計検定3級とは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「高校卒業レベル」の統計活用力を認証する検定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480560"/>
            <a:ext cx="1143000" cy="1463040"/>
          </a:xfrm>
          <a:prstGeom prst="roundRect">
            <a:avLst>
              <a:gd name="adj" fmla="val 8000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4590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卒業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3749040"/>
            <a:ext cx="1143000" cy="2194560"/>
          </a:xfrm>
          <a:prstGeom prst="roundRect">
            <a:avLst>
              <a:gd name="adj" fmla="val 8000"/>
            </a:avLst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874520" y="38587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74520" y="4343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卒業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3017520"/>
            <a:ext cx="1143000" cy="2926080"/>
          </a:xfrm>
          <a:prstGeom prst="roundRect">
            <a:avLst>
              <a:gd name="adj" fmla="val 8000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108960" y="31272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2級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08960" y="3611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教養課程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286000"/>
            <a:ext cx="1143000" cy="3657600"/>
          </a:xfrm>
          <a:prstGeom prst="roundRect">
            <a:avLst>
              <a:gd name="adj" fmla="val 8000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23957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準1級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43400" y="28803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専門課程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この試験は4級の内容を含みます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0" descr="/agent/turn1/workspace/output/_anthropic_assets/icon-target-55a8fe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84" y="1997964"/>
            <a:ext cx="301752" cy="30175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9516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試験の目的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263640" y="2606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データの分析で重要な概念を身に付け、身近な問題に活かす力を評価。高校数学Ⅰ「データの分析」相当の内容です。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3703320"/>
            <a:ext cx="5486400" cy="2240280"/>
          </a:xfrm>
          <a:prstGeom prst="roundRect">
            <a:avLst>
              <a:gd name="adj" fmla="val 4898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626364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問われる2つの力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263640" y="4498848"/>
            <a:ext cx="457200" cy="45720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62636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49440" y="43891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統計リテラシー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基本的な用語や概念の定義を問う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63640" y="5276088"/>
            <a:ext cx="457200" cy="45720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6263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51663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統計的推論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不確実な事象の理解や、概念同士の関係を問う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試験概要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30問程度・60分・65点以上で合格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agent/turn1/workspace/output/_anthropic_assets/icon-laptop-d46d0e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7111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試験方式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CBT方式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1440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通年・随時、パソコンで受験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2544" y="1691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626864" y="194767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agent/turn1/workspace/output/_anthropic_assets/icon-document-39e8f9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207111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8384" y="1947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問題数・形式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26864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30問程度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4626864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4〜5肢選択問題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65008" y="1691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8339328" y="194767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/agent/turn1/workspace/output/_anthropic_assets/icon-clock-b99807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207111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70848" y="1947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試験時間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39328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8339328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1問あたり約2分が目安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8"/>
          <p:cNvSpPr/>
          <p:nvPr/>
        </p:nvSpPr>
        <p:spPr>
          <a:xfrm>
            <a:off x="914400" y="427939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3" descr="/agent/turn1/workspace/output/_anthropic_assets/icon-checkmark-circle-20f497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" y="440283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合格基準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440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65点以上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914400" y="5596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100点満点中。結果は試験直後に表示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52544" y="40233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3"/>
          <p:cNvSpPr/>
          <p:nvPr/>
        </p:nvSpPr>
        <p:spPr>
          <a:xfrm>
            <a:off x="4626864" y="427939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4" descr="/agent/turn1/workspace/output/_anthropic_assets/icon-money-87686bc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308" y="4402836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58384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受験料（税込）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626864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6,000円</a:t>
            </a:r>
            <a:endParaRPr lang="en-US" sz="3200" dirty="0"/>
          </a:p>
        </p:txBody>
      </p:sp>
      <p:sp>
        <p:nvSpPr>
          <p:cNvPr id="33" name="Text 26"/>
          <p:cNvSpPr/>
          <p:nvPr/>
        </p:nvSpPr>
        <p:spPr>
          <a:xfrm>
            <a:off x="4626864" y="5596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一般6,000円／学割 4,000円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065008" y="40233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8"/>
          <p:cNvSpPr/>
          <p:nvPr/>
        </p:nvSpPr>
        <p:spPr>
          <a:xfrm>
            <a:off x="8339328" y="427939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5" descr="/agent/turn1/workspace/output/_anthropic_assets/icon-calculator-f68cdd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2772" y="4402836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70848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持ち込み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339328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電坈1台</a:t>
            </a:r>
            <a:endParaRPr lang="en-US" sz="3200" dirty="0"/>
          </a:p>
        </p:txBody>
      </p:sp>
      <p:sp>
        <p:nvSpPr>
          <p:cNvPr id="39" name="Text 31"/>
          <p:cNvSpPr/>
          <p:nvPr/>
        </p:nvSpPr>
        <p:spPr>
          <a:xfrm>
            <a:off x="8339328" y="5596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四則・%・√の普通電卓のみ可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出題範囲の全体像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出題範囲は10テーマ、4級の内容に加えて問われる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データの種類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量的・質的変数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4つの尺度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6916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標本調査と実験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母集団と標本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国勢調査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212080" y="187452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212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統計グラフと集計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1変数・2変数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データの集計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6916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406640" y="187452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406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時系列データ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指数・移動平均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時系列グラフ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18320" y="169164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601200" y="187452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601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散らばりの指標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四分位範囲・分散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標準偏差・変動係数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0332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" y="388620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散らばりのグラフ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箱ひげ図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はずれ値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834640" y="370332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017520" y="3886200"/>
            <a:ext cx="411480" cy="411480"/>
          </a:xfrm>
          <a:prstGeom prst="ellipse">
            <a:avLst/>
          </a:prstGeom>
          <a:solidFill>
            <a:srgbClr val="8DAA7F"/>
          </a:solidFill>
          <a:ln w="12700">
            <a:solidFill>
              <a:srgbClr val="8DAA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3017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017520" y="4389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相関と回帰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01752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散布図・相関係数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回帰直線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0" y="370332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5212080" y="3886200"/>
            <a:ext cx="411480" cy="411480"/>
          </a:xfrm>
          <a:prstGeom prst="ellipse">
            <a:avLst/>
          </a:prstGeom>
          <a:solidFill>
            <a:srgbClr val="8DAA7F"/>
          </a:solidFill>
          <a:ln w="12700">
            <a:solidFill>
              <a:srgbClr val="8DAA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212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12080" y="4389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21208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独立な試行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条件付き確率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23760" y="370332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7406640" y="3886200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74066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06640" y="4389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確率分布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40664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二項分布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正規分布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418320" y="370332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9601200" y="3886200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9601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601200" y="4389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統計的な推測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60120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区間推定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仮説検定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080" y="5833872"/>
            <a:ext cx="201168" cy="20116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932688" y="57790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データの整理（1〜6）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3474720" y="5833872"/>
            <a:ext cx="201168" cy="201168"/>
          </a:xfrm>
          <a:prstGeom prst="ellipse">
            <a:avLst/>
          </a:prstGeom>
          <a:solidFill>
            <a:srgbClr val="8DAA7F"/>
          </a:solidFill>
          <a:ln w="12700">
            <a:solidFill>
              <a:srgbClr val="8DAA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3767328" y="57790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関係と確率（7・8）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309360" y="5833872"/>
            <a:ext cx="201168" cy="201168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601968" y="57790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分布と推測（9・10）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出題範囲① データの整理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データの種類・集計・散らばりを正確に読む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675120" cy="4434840"/>
          </a:xfrm>
          <a:prstGeom prst="roundRect">
            <a:avLst>
              <a:gd name="adj" fmla="val 247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11096"/>
            <a:ext cx="384048" cy="38404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データの種類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名義・順序・間隔・比例の4尺度を区別する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624328"/>
            <a:ext cx="384048" cy="38404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49631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標本調査と実験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母集団と標本の関係、国勢調査の位置づけ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384048" cy="38404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2095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統計グラフと集計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1変数・2変数データを表やグラフで読む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050792"/>
            <a:ext cx="384048" cy="38404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144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92277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時系列データ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時系列グラフ・指数・移動平均の計算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764024"/>
            <a:ext cx="384048" cy="38404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63600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データの散らばり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四分位範囲・分散・標準偏差・変動係数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5477256"/>
            <a:ext cx="384048" cy="384048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1440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53492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箱ひげ図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5数要約とはずれ値の見分け方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0" y="164592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86384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箱ひげ図の読み方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86800" y="2834640"/>
            <a:ext cx="0" cy="640080"/>
          </a:xfrm>
          <a:prstGeom prst="line">
            <a:avLst/>
          </a:prstGeom>
          <a:noFill/>
          <a:ln w="22225">
            <a:solidFill>
              <a:srgbClr val="F6F0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8686800" y="4754880"/>
            <a:ext cx="0" cy="640080"/>
          </a:xfrm>
          <a:prstGeom prst="line">
            <a:avLst/>
          </a:prstGeom>
          <a:noFill/>
          <a:ln w="22225">
            <a:solidFill>
              <a:srgbClr val="F6F0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8458200" y="2834640"/>
            <a:ext cx="457200" cy="0"/>
          </a:xfrm>
          <a:prstGeom prst="line">
            <a:avLst/>
          </a:prstGeom>
          <a:noFill/>
          <a:ln w="22225">
            <a:solidFill>
              <a:srgbClr val="F6F0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8458200" y="5394960"/>
            <a:ext cx="457200" cy="0"/>
          </a:xfrm>
          <a:prstGeom prst="line">
            <a:avLst/>
          </a:prstGeom>
          <a:noFill/>
          <a:ln w="22225">
            <a:solidFill>
              <a:srgbClr val="F6F0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8229600" y="3474720"/>
            <a:ext cx="914400" cy="1280160"/>
          </a:xfrm>
          <a:prstGeom prst="rect">
            <a:avLst/>
          </a:prstGeom>
          <a:solidFill>
            <a:srgbClr val="8DAA7F"/>
          </a:solidFill>
          <a:ln w="22225">
            <a:solidFill>
              <a:srgbClr val="F6F0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914400" cy="0"/>
          </a:xfrm>
          <a:prstGeom prst="line">
            <a:avLst/>
          </a:prstGeom>
          <a:noFill/>
          <a:ln w="4445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04504" y="2377440"/>
            <a:ext cx="164592" cy="164592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509760" y="23042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はずれ値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09760" y="26791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09760" y="33192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第3四分位数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0" y="3959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509760" y="4599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第1四分位数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09760" y="5239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出題範囲② 相関と回帰・確率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2つの変数の関係と、確率の基礎を押さえる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agent/turn1/workspace/output/_anthropic_assets/icon-arrow-trending-30c37b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192366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相関と回帰</a:t>
            </a:r>
            <a:endParaRPr lang="en-US" sz="18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011122186"/>
              </p:ext>
            </p:extLst>
          </p:nvPr>
        </p:nvGraphicFramePr>
        <p:xfrm>
          <a:off x="868680" y="2423160"/>
          <a:ext cx="5029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4389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散布図から相関の強さ・向きを読む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相関係数は−1〜1。相関と因果、擬相関を区別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回帰直線による予測（範囲外への外挿に注意）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9360" y="164592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6537960" y="1810512"/>
            <a:ext cx="502920" cy="5029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agent/turn1/workspace/output/_anthropic_assets/icon-data-bar-vertical-de8ac0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117" y="1923669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537960" y="2624328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653796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178040" y="2514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独立な試行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互いに影響しない試行の確率は、掛け算で求める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537960" y="3721608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653796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178040" y="3611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条件付き確率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ある事象が起きたという条件のもとで、別の事象が起きる確率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537960" y="475488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672084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独立：P(A∩B) = P(A) × P(B)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条件付き：P(A|B) = P(A∩B) ÷ P(B)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出題範囲③ 確率分布と統計的推測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正規分布から、区間推定・仮説検定へつなぐ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agent/turn1/workspace/output/_anthropic_assets/icon-data-bar-vertical-de8ac0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192366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確率分布</a:t>
            </a:r>
            <a:endParaRPr lang="en-US" sz="18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831770898"/>
              </p:ext>
            </p:extLst>
          </p:nvPr>
        </p:nvGraphicFramePr>
        <p:xfrm>
          <a:off x="868680" y="2377440"/>
          <a:ext cx="50292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確率変数の平均・分散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二項分布と、その正規近似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正規分布の性質と標準化（統計数値表の読み取り）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9360" y="164592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6537960" y="1810512"/>
            <a:ext cx="502920" cy="50292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agent/turn1/workspace/output/_anthropic_assets/icon-target-55a8fe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117" y="1923669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統計的な推測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537960" y="265176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65379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178040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標本分布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母平均・母比率の標本分布を理解する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537960" y="356616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65379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178040" y="3383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区間推定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母平均・母比率が入る範囲を推定する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537960" y="4480560"/>
            <a:ext cx="411480" cy="41148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65379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178040" y="4297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仮説検定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仮説を立て、標本のデータから棄却できるか判断する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537960" y="5212080"/>
            <a:ext cx="4754880" cy="685800"/>
          </a:xfrm>
          <a:prstGeom prst="roundRect">
            <a:avLst>
              <a:gd name="adj" fmla="val 13333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6720840" y="52120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解答に必要な統計数値表は試験会場で配布されます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重点分野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まずは「グラフ読取・統計量」と「確率」を確実に得点する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グラフの読み取りと統計量の計算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ヒストグラム・箱ひげ図・散布図、平均・標準偏差・四分位範囲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確率の計算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加法定理・条件付き確率・独立性・組合せ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52544" y="169164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8DAA7F"/>
          </a:solidFill>
          <a:ln w="12700">
            <a:solidFill>
              <a:srgbClr val="8DAA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352544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52544" y="24231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35424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正規分布・標準化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標準化の計算と標準正規分布表の読み取り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52544" y="365760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35424" y="3703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尺度と変数の種類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名義・順序・間隔・比例尺度の区分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52544" y="489204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35424" y="4937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相関係数と回帰直線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相関係数の性質、擬似相関、回帰係数の解釈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65008" y="169164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065008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47888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時系列データと指数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変動成分の識別、移動平均、指数の読み取り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65008" y="36576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293608" y="384048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0" descr="/agent/turn1/workspace/output/_anthropic_assets/icon-target-60fe5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3963924"/>
            <a:ext cx="301752" cy="30175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93608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B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65点以上＝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30問中およそ20問の正解が目安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" y="6053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※出題傾向は学習サイトの整理に基づく目安です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6F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学習の進め方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4つのフェーズで「理解→診断→補強→高速化」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全体像の把握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公式テキストを、計算を飛ばして1周通読して大果をつかむ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1691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30168" y="1920240"/>
            <a:ext cx="502920" cy="50292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301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0168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現状診断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0168" y="30175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過去問を1回分解き、現在の実力と弱点を確かめる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391656" y="1920240"/>
            <a:ext cx="502920" cy="50292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39165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弱点補強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91656" y="30175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間違えた範囲を、数式を言葉で説明できるまで復習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24544" y="16916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DF7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153144" y="1920240"/>
            <a:ext cx="502920" cy="50292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15314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3144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高速化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53144" y="30175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問題集を繰り返し、1問2分以内で解く練習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学習時間の目安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68680" y="4864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完全な初学者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30〜60時間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68680" y="5687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期間の目安：1〜2か月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52544" y="47548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581144" y="4864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高校数学の既習者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81144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15〜30時間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81144" y="5687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期間の目安：2〜4週間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65008" y="47548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DCE5D0"/>
          </a:solidFill>
          <a:ln w="12700">
            <a:solidFill>
              <a:srgbClr val="DCE5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293608" y="4864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理系・統計実務経験者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93608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5〜15時間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293608" y="5687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期間の目安：1週間程度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統計検定3級 試験内容ガイド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88136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教材と受験のポイント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教材をそろえて、ゆとりをもって本番へ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163828"/>
          </a:solidFill>
          <a:ln w="12700">
            <a:solidFill>
              <a:srgbClr val="2C63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810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おすすめ教材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agent/turn1/workspace/output/_anthropic_assets/icon-book-f32197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6837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77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公式テキスト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『改訂版 統計検定3級対応 データの分析』（東京図書）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/agent/turn1/workspace/output/_anthropic_assets/icon-document-70e1f9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37353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4290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公式問題集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『統計検定 3級・4級 公式問題集［CBT対応版］』（実務教育出版）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/agent/turn1/workspace/output/_anthropic_assets/icon-laptop-99a671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7868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4805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学習サイト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統計WEB「統計学の時間」など、全範囲を段階的に学べる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217920" y="1691640"/>
            <a:ext cx="5303520" cy="3886200"/>
          </a:xfrm>
          <a:prstGeom prst="roundRect">
            <a:avLst>
              <a:gd name="adj" fmla="val 2824"/>
            </a:avLst>
          </a:prstGeom>
          <a:solidFill>
            <a:srgbClr val="163828"/>
          </a:solidFill>
          <a:ln w="12700">
            <a:solidFill>
              <a:srgbClr val="2C63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649224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申込と受験ルール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492240" y="256032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3" descr="/agent/turn1/workspace/output/_anthropic_assets/icon-calendar-dfac19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26837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377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申込と持ち物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会場に直接申込。オデッセID（無料）を登録し、当日は写真付き身分証を持参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492240" y="361188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/agent/turn1/workspace/output/_anthropic_assets/icon-clock-7ac9b2c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373532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34290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再受験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前回の試験から7日（168時間）以上あける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5" descr="/agent/turn1/workspace/output/_anthropic_assets/icon-checkmark-circle-26542c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684" y="4786884"/>
            <a:ext cx="301752" cy="30175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44805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0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CE5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合否は試験直後に判定。合格証は4〜6週間後に郵送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40080" y="57607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8B93B"/>
          </a:solidFill>
          <a:ln w="12700">
            <a:solidFill>
              <a:srgbClr val="E8B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まずは過去問を1回分解いて、現在地を確かめよう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A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633</Words>
  <Application>Microsoft Office PowerPoint</Application>
  <PresentationFormat>ワイド画面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Yu Gothic</vt:lpstr>
      <vt:lpstr>Arial</vt:lpstr>
      <vt:lpstr>Calibri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Hattori, Takao</dc:creator>
  <cp:lastModifiedBy>Hattori, Takao</cp:lastModifiedBy>
  <cp:revision>1</cp:revision>
  <dcterms:created xsi:type="dcterms:W3CDTF">2026-10-30T00:23:03Z</dcterms:created>
  <dcterms:modified xsi:type="dcterms:W3CDTF">2026-10-30T00:50:14Z</dcterms:modified>
</cp:coreProperties>
</file>