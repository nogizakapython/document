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8" d="100"/>
          <a:sy n="98" d="100"/>
        </p:scale>
        <p:origin x="1044" y="7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9/18/2026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329274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E27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agent/turn1/workspace/assets/hero.png"/>
          <p:cNvPicPr>
            <a:picLocks noChangeAspect="1"/>
          </p:cNvPicPr>
          <p:nvPr/>
        </p:nvPicPr>
        <p:blipFill>
          <a:blip r:embed="rId3"/>
          <a:srcRect t="7789" b="7789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タイトル用の帯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852160" cy="5143500"/>
          </a:xfrm>
          <a:prstGeom prst="rect">
            <a:avLst/>
          </a:prstGeom>
          <a:solidFill>
            <a:srgbClr val="5E2750">
              <a:alpha val="88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アクセント線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481328"/>
            <a:ext cx="1371600" cy="64008"/>
          </a:xfrm>
          <a:prstGeom prst="rect">
            <a:avLst/>
          </a:prstGeom>
          <a:solidFill>
            <a:srgbClr val="E9542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Text 2"/>
          <p:cNvSpPr/>
          <p:nvPr/>
        </p:nvSpPr>
        <p:spPr>
          <a:xfrm>
            <a:off x="640080" y="10515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C6B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Ubuntu Server 構築ガイド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40080" y="1737360"/>
            <a:ext cx="5486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2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PostgreSQL</a:t>
            </a:r>
            <a:endParaRPr lang="en-US" sz="3300" dirty="0"/>
          </a:p>
          <a:p>
            <a:pPr marL="0" indent="0">
              <a:lnSpc>
                <a:spcPts val="42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インストール &amp; 構築手順書</a:t>
            </a:r>
            <a:endParaRPr lang="en-US" sz="3300" dirty="0"/>
          </a:p>
        </p:txBody>
      </p:sp>
      <p:sp>
        <p:nvSpPr>
          <p:cNvPr id="7" name="Text 4"/>
          <p:cNvSpPr/>
          <p:nvPr/>
        </p:nvSpPr>
        <p:spPr>
          <a:xfrm>
            <a:off x="640080" y="320040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D4E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Ubuntu 22.04 / 24.04 LTS 対応 ｜ 初期構築から接続設定・バックアップまで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40080" y="4114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6A9B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作成日：2026年9月18日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帯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5E275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アクセント線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868680"/>
            <a:ext cx="9144000" cy="50292"/>
          </a:xfrm>
          <a:prstGeom prst="rect">
            <a:avLst/>
          </a:prstGeom>
          <a:solidFill>
            <a:srgbClr val="E9542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411480" y="182880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構築の全体像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38912" y="548640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5D4E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本手順書は次の6ステップで構成しています</a:t>
            </a:r>
            <a:endParaRPr lang="en-US" sz="1050" dirty="0"/>
          </a:p>
        </p:txBody>
      </p:sp>
      <p:sp>
        <p:nvSpPr>
          <p:cNvPr id="6" name="ステップカード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11480" y="1188720"/>
            <a:ext cx="2679192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ADFE6"/>
            </a:solidFill>
            <a:prstDash val="solid"/>
          </a:ln>
          <a:effectLst>
            <a:outerShdw blurRad="127000" dist="25400" dir="5400000" algn="bl" rotWithShape="0">
              <a:srgbClr val="5E275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7" name="カード上部の線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11480" y="1188720"/>
            <a:ext cx="2679192" cy="54864"/>
          </a:xfrm>
          <a:prstGeom prst="rect">
            <a:avLst/>
          </a:prstGeom>
          <a:solidFill>
            <a:srgbClr val="E95420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8" name="Image 0" descr="/agent/turn1/workspace/assets/icon-pre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0864" y="1389888"/>
            <a:ext cx="548640" cy="5486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1408176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E9542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STEP 1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40080" y="1664208"/>
            <a:ext cx="1673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5E27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事前準備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640080" y="2084832"/>
            <a:ext cx="22219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6E616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OS更新・時刻・</a:t>
            </a:r>
            <a:endParaRPr lang="en-US" sz="10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6E616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ロケールの確認</a:t>
            </a:r>
            <a:endParaRPr lang="en-US" sz="1000" dirty="0"/>
          </a:p>
        </p:txBody>
      </p:sp>
      <p:sp>
        <p:nvSpPr>
          <p:cNvPr id="12" name="ステップカード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328416" y="1188720"/>
            <a:ext cx="2679192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ADFE6"/>
            </a:solidFill>
            <a:prstDash val="solid"/>
          </a:ln>
          <a:effectLst>
            <a:outerShdw blurRad="127000" dist="25400" dir="5400000" algn="bl" rotWithShape="0">
              <a:srgbClr val="5E275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3" name="カード上部の線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328416" y="1188720"/>
            <a:ext cx="2679192" cy="54864"/>
          </a:xfrm>
          <a:prstGeom prst="rect">
            <a:avLst/>
          </a:prstGeom>
          <a:solidFill>
            <a:srgbClr val="E95420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14" name="Image 1" descr="/agent/turn1/workspace/assets/icon-insta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7800" y="1389888"/>
            <a:ext cx="548640" cy="5486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557016" y="1408176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E9542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STEP 2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3557016" y="1664208"/>
            <a:ext cx="1673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5E27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インストール</a:t>
            </a:r>
            <a:endParaRPr lang="en-US" sz="1450" dirty="0"/>
          </a:p>
        </p:txBody>
      </p:sp>
      <p:sp>
        <p:nvSpPr>
          <p:cNvPr id="17" name="Text 13"/>
          <p:cNvSpPr/>
          <p:nvPr/>
        </p:nvSpPr>
        <p:spPr>
          <a:xfrm>
            <a:off x="3557016" y="2084832"/>
            <a:ext cx="22219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6E616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APTリポジトリから</a:t>
            </a:r>
            <a:endParaRPr lang="en-US" sz="10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6E616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パッケージ導入</a:t>
            </a:r>
            <a:endParaRPr lang="en-US" sz="1000" dirty="0"/>
          </a:p>
        </p:txBody>
      </p:sp>
      <p:sp>
        <p:nvSpPr>
          <p:cNvPr id="18" name="ステップカード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45352" y="1188720"/>
            <a:ext cx="2679192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ADFE6"/>
            </a:solidFill>
            <a:prstDash val="solid"/>
          </a:ln>
          <a:effectLst>
            <a:outerShdw blurRad="127000" dist="25400" dir="5400000" algn="bl" rotWithShape="0">
              <a:srgbClr val="5E275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9" name="カード上部の線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45352" y="1188720"/>
            <a:ext cx="2679192" cy="54864"/>
          </a:xfrm>
          <a:prstGeom prst="rect">
            <a:avLst/>
          </a:prstGeom>
          <a:solidFill>
            <a:srgbClr val="E95420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20" name="Image 2" descr="/agent/turn1/workspace/assets/icon-confi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74736" y="1389888"/>
            <a:ext cx="548640" cy="54864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473952" y="1408176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E9542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STEP 3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6473952" y="1664208"/>
            <a:ext cx="1673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5E27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起動と初期設定</a:t>
            </a:r>
            <a:endParaRPr lang="en-US" sz="1450" dirty="0"/>
          </a:p>
        </p:txBody>
      </p:sp>
      <p:sp>
        <p:nvSpPr>
          <p:cNvPr id="23" name="Text 18"/>
          <p:cNvSpPr/>
          <p:nvPr/>
        </p:nvSpPr>
        <p:spPr>
          <a:xfrm>
            <a:off x="6473952" y="2084832"/>
            <a:ext cx="22219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6E616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サービス起動確認と</a:t>
            </a:r>
            <a:endParaRPr lang="en-US" sz="10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6E616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管理者パスワード</a:t>
            </a:r>
            <a:endParaRPr lang="en-US" sz="1000" dirty="0"/>
          </a:p>
        </p:txBody>
      </p:sp>
      <p:sp>
        <p:nvSpPr>
          <p:cNvPr id="24" name="ステップカード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11480" y="3017520"/>
            <a:ext cx="2679192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ADFE6"/>
            </a:solidFill>
            <a:prstDash val="solid"/>
          </a:ln>
          <a:effectLst>
            <a:outerShdw blurRad="127000" dist="25400" dir="5400000" algn="bl" rotWithShape="0">
              <a:srgbClr val="5E275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5" name="カード上部の線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11480" y="3017520"/>
            <a:ext cx="2679192" cy="54864"/>
          </a:xfrm>
          <a:prstGeom prst="rect">
            <a:avLst/>
          </a:prstGeom>
          <a:solidFill>
            <a:srgbClr val="E95420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26" name="Image 3" descr="/agent/turn1/workspace/assets/icon-d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40864" y="3218688"/>
            <a:ext cx="548640" cy="54864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640080" y="3236976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E9542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STEP 4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640080" y="3493008"/>
            <a:ext cx="1673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5E27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DB/ユーザー作成</a:t>
            </a:r>
            <a:endParaRPr lang="en-US" sz="1450" dirty="0"/>
          </a:p>
        </p:txBody>
      </p:sp>
      <p:sp>
        <p:nvSpPr>
          <p:cNvPr id="29" name="Text 23"/>
          <p:cNvSpPr/>
          <p:nvPr/>
        </p:nvSpPr>
        <p:spPr>
          <a:xfrm>
            <a:off x="640080" y="3913632"/>
            <a:ext cx="22219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6E616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業務用ロールと</a:t>
            </a:r>
            <a:endParaRPr lang="en-US" sz="10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6E616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データベース作成</a:t>
            </a:r>
            <a:endParaRPr lang="en-US" sz="1000" dirty="0"/>
          </a:p>
        </p:txBody>
      </p:sp>
      <p:sp>
        <p:nvSpPr>
          <p:cNvPr id="30" name="ステップカード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328416" y="3017520"/>
            <a:ext cx="2679192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ADFE6"/>
            </a:solidFill>
            <a:prstDash val="solid"/>
          </a:ln>
          <a:effectLst>
            <a:outerShdw blurRad="127000" dist="25400" dir="5400000" algn="bl" rotWithShape="0">
              <a:srgbClr val="5E275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31" name="カード上部の線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328416" y="3017520"/>
            <a:ext cx="2679192" cy="54864"/>
          </a:xfrm>
          <a:prstGeom prst="rect">
            <a:avLst/>
          </a:prstGeom>
          <a:solidFill>
            <a:srgbClr val="E95420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32" name="Image 4" descr="/agent/turn1/workspace/assets/icon-securit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57800" y="3218688"/>
            <a:ext cx="548640" cy="54864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3557016" y="3236976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E9542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STEP 5</a:t>
            </a:r>
            <a:endParaRPr lang="en-US" sz="1000" dirty="0"/>
          </a:p>
        </p:txBody>
      </p:sp>
      <p:sp>
        <p:nvSpPr>
          <p:cNvPr id="34" name="Text 27"/>
          <p:cNvSpPr/>
          <p:nvPr/>
        </p:nvSpPr>
        <p:spPr>
          <a:xfrm>
            <a:off x="3557016" y="3493008"/>
            <a:ext cx="1673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5E27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接続設定</a:t>
            </a:r>
            <a:endParaRPr lang="en-US" sz="1450" dirty="0"/>
          </a:p>
        </p:txBody>
      </p:sp>
      <p:sp>
        <p:nvSpPr>
          <p:cNvPr id="35" name="Text 28"/>
          <p:cNvSpPr/>
          <p:nvPr/>
        </p:nvSpPr>
        <p:spPr>
          <a:xfrm>
            <a:off x="3557016" y="3913632"/>
            <a:ext cx="22219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6E616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リモート接続と</a:t>
            </a:r>
            <a:endParaRPr lang="en-US" sz="10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6E616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認証・ファイアウォール</a:t>
            </a:r>
            <a:endParaRPr lang="en-US" sz="1000" dirty="0"/>
          </a:p>
        </p:txBody>
      </p:sp>
      <p:sp>
        <p:nvSpPr>
          <p:cNvPr id="36" name="ステップカード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45352" y="3017520"/>
            <a:ext cx="2679192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ADFE6"/>
            </a:solidFill>
            <a:prstDash val="solid"/>
          </a:ln>
          <a:effectLst>
            <a:outerShdw blurRad="127000" dist="25400" dir="5400000" algn="bl" rotWithShape="0">
              <a:srgbClr val="5E275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37" name="カード上部の線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45352" y="3017520"/>
            <a:ext cx="2679192" cy="54864"/>
          </a:xfrm>
          <a:prstGeom prst="rect">
            <a:avLst/>
          </a:prstGeom>
          <a:solidFill>
            <a:srgbClr val="E95420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38" name="Image 5" descr="/agent/turn1/workspace/assets/icon-backu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74736" y="3218688"/>
            <a:ext cx="548640" cy="548640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6473952" y="3236976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E9542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STEP 6</a:t>
            </a:r>
            <a:endParaRPr lang="en-US" sz="1000" dirty="0"/>
          </a:p>
        </p:txBody>
      </p:sp>
      <p:sp>
        <p:nvSpPr>
          <p:cNvPr id="40" name="Text 32"/>
          <p:cNvSpPr/>
          <p:nvPr/>
        </p:nvSpPr>
        <p:spPr>
          <a:xfrm>
            <a:off x="6473952" y="3493008"/>
            <a:ext cx="1673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5E27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バックアップ運用</a:t>
            </a:r>
            <a:endParaRPr lang="en-US" sz="1450" dirty="0"/>
          </a:p>
        </p:txBody>
      </p:sp>
      <p:sp>
        <p:nvSpPr>
          <p:cNvPr id="41" name="Text 33"/>
          <p:cNvSpPr/>
          <p:nvPr/>
        </p:nvSpPr>
        <p:spPr>
          <a:xfrm>
            <a:off x="6473952" y="3913632"/>
            <a:ext cx="22219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6E616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定期バックアップと</a:t>
            </a:r>
            <a:endParaRPr lang="en-US" sz="10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6E616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リストア手順</a:t>
            </a:r>
            <a:endParaRPr lang="en-US" sz="1000" dirty="0"/>
          </a:p>
        </p:txBody>
      </p:sp>
      <p:sp>
        <p:nvSpPr>
          <p:cNvPr id="42" name="Text 34"/>
          <p:cNvSpPr/>
          <p:nvPr/>
        </p:nvSpPr>
        <p:spPr>
          <a:xfrm>
            <a:off x="411480" y="4718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16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PostgreSQL on Ubuntu Server ｜ 構築手順書</a:t>
            </a:r>
            <a:endParaRPr lang="en-US" sz="900" dirty="0"/>
          </a:p>
        </p:txBody>
      </p:sp>
      <p:sp>
        <p:nvSpPr>
          <p:cNvPr id="43" name="Text 35"/>
          <p:cNvSpPr/>
          <p:nvPr/>
        </p:nvSpPr>
        <p:spPr>
          <a:xfrm>
            <a:off x="8138160" y="4718304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5E27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帯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5E275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アクセント線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868680"/>
            <a:ext cx="9144000" cy="50292"/>
          </a:xfrm>
          <a:prstGeom prst="rect">
            <a:avLst/>
          </a:prstGeom>
          <a:solidFill>
            <a:srgbClr val="E9542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411480" y="182880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前提条件と対象環境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38912" y="548640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5D4E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作業を始める前に以下を確認してください</a:t>
            </a:r>
            <a:endParaRPr lang="en-US" sz="1050" dirty="0"/>
          </a:p>
        </p:txBody>
      </p:sp>
      <p:sp>
        <p:nvSpPr>
          <p:cNvPr id="6" name="行の背景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11480" y="1170432"/>
            <a:ext cx="83210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ADF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見出しセルの背景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11480" y="1170432"/>
            <a:ext cx="2057400" cy="530352"/>
          </a:xfrm>
          <a:prstGeom prst="rect">
            <a:avLst/>
          </a:prstGeom>
          <a:solidFill>
            <a:srgbClr val="F3E9E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566928" y="1170432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E27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対象OS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651760" y="1170432"/>
            <a:ext cx="5943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B212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Ubuntu Server 22.04 LTS / 24.04 LTS（x86_64）</a:t>
            </a:r>
            <a:endParaRPr lang="en-US" sz="1050" dirty="0"/>
          </a:p>
        </p:txBody>
      </p:sp>
      <p:sp>
        <p:nvSpPr>
          <p:cNvPr id="10" name="行の背景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11480" y="1746504"/>
            <a:ext cx="83210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ADF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見出しセルの背景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11480" y="1746504"/>
            <a:ext cx="2057400" cy="530352"/>
          </a:xfrm>
          <a:prstGeom prst="rect">
            <a:avLst/>
          </a:prstGeom>
          <a:solidFill>
            <a:srgbClr val="F3E9E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566928" y="1746504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E27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導入バージョン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651760" y="1746504"/>
            <a:ext cx="5943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B212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PostgreSQL 16（Ubuntu 24.04 標準）／ PGDG 利用時は最新安定版</a:t>
            </a:r>
            <a:endParaRPr lang="en-US" sz="1050" dirty="0"/>
          </a:p>
        </p:txBody>
      </p:sp>
      <p:sp>
        <p:nvSpPr>
          <p:cNvPr id="14" name="行の背景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11480" y="2322576"/>
            <a:ext cx="83210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ADF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見出しセルの背景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11480" y="2322576"/>
            <a:ext cx="2057400" cy="530352"/>
          </a:xfrm>
          <a:prstGeom prst="rect">
            <a:avLst/>
          </a:prstGeom>
          <a:solidFill>
            <a:srgbClr val="F3E9E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566928" y="2322576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E27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必要権限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651760" y="2322576"/>
            <a:ext cx="5943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B212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sudo 権限を持つ一般ユーザー（root 直接ログインは非推奨）</a:t>
            </a:r>
            <a:endParaRPr lang="en-US" sz="1050" dirty="0"/>
          </a:p>
        </p:txBody>
      </p:sp>
      <p:sp>
        <p:nvSpPr>
          <p:cNvPr id="18" name="行の背景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11480" y="2898648"/>
            <a:ext cx="83210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ADF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見出しセルの背景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11480" y="2898648"/>
            <a:ext cx="2057400" cy="530352"/>
          </a:xfrm>
          <a:prstGeom prst="rect">
            <a:avLst/>
          </a:prstGeom>
          <a:solidFill>
            <a:srgbClr val="F3E9E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8"/>
          <p:cNvSpPr/>
          <p:nvPr/>
        </p:nvSpPr>
        <p:spPr>
          <a:xfrm>
            <a:off x="566928" y="2898648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E27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ハードウェア目安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651760" y="2898648"/>
            <a:ext cx="5943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B212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CPU 2コア以上 ／ メモリ 4GB以上 ／ 空きディスク 20GB以上</a:t>
            </a:r>
            <a:endParaRPr lang="en-US" sz="1050" dirty="0"/>
          </a:p>
        </p:txBody>
      </p:sp>
      <p:sp>
        <p:nvSpPr>
          <p:cNvPr id="22" name="行の背景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11480" y="3474720"/>
            <a:ext cx="83210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ADF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見出しセルの背景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11480" y="3474720"/>
            <a:ext cx="2057400" cy="530352"/>
          </a:xfrm>
          <a:prstGeom prst="rect">
            <a:avLst/>
          </a:prstGeom>
          <a:solidFill>
            <a:srgbClr val="F3E9E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4" name="Text 22"/>
          <p:cNvSpPr/>
          <p:nvPr/>
        </p:nvSpPr>
        <p:spPr>
          <a:xfrm>
            <a:off x="566928" y="3474720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E27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ネットワーク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651760" y="3474720"/>
            <a:ext cx="5943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B212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インターネット接続（APT取得用）、DBポート 5432 の疎通方針を事前決定</a:t>
            </a:r>
            <a:endParaRPr lang="en-US" sz="1050" dirty="0"/>
          </a:p>
        </p:txBody>
      </p:sp>
      <p:sp>
        <p:nvSpPr>
          <p:cNvPr id="26" name="行の背景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11480" y="4050792"/>
            <a:ext cx="83210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ADF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" name="見出しセルの背景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11480" y="4050792"/>
            <a:ext cx="2057400" cy="530352"/>
          </a:xfrm>
          <a:prstGeom prst="rect">
            <a:avLst/>
          </a:prstGeom>
          <a:solidFill>
            <a:srgbClr val="F3E9E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8" name="Text 26"/>
          <p:cNvSpPr/>
          <p:nvPr/>
        </p:nvSpPr>
        <p:spPr>
          <a:xfrm>
            <a:off x="566928" y="4050792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E27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作業所要時間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651760" y="4050792"/>
            <a:ext cx="5943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B212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約30〜45分（検証環境の場合）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11480" y="4718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16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PostgreSQL on Ubuntu Server ｜ 構築手順書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8160" y="4718304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5E27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帯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5E275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アクセント線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868680"/>
            <a:ext cx="9144000" cy="50292"/>
          </a:xfrm>
          <a:prstGeom prst="rect">
            <a:avLst/>
          </a:prstGeom>
          <a:solidFill>
            <a:srgbClr val="E9542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ステップ番号の背景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11480" y="219456"/>
            <a:ext cx="1051560" cy="420624"/>
          </a:xfrm>
          <a:prstGeom prst="rect">
            <a:avLst/>
          </a:prstGeom>
          <a:solidFill>
            <a:srgbClr val="E9542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411480" y="219456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STEP 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600200" y="182880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事前準備：OSの更新と環境確認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627632" y="548640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5D4E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パッケージを最新化し、時刻とロケールを揃えます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11480" y="111556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E27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① パッケージの更新</a:t>
            </a:r>
            <a:endParaRPr lang="en-US" sz="1250" dirty="0"/>
          </a:p>
        </p:txBody>
      </p:sp>
      <p:sp>
        <p:nvSpPr>
          <p:cNvPr id="9" name="コマンド枠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11480" y="1426464"/>
            <a:ext cx="4114800" cy="1385316"/>
          </a:xfrm>
          <a:prstGeom prst="rect">
            <a:avLst/>
          </a:prstGeom>
          <a:solidFill>
            <a:srgbClr val="2D1B2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コマンド枠のアクセント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11480" y="1426464"/>
            <a:ext cx="54864" cy="1385316"/>
          </a:xfrm>
          <a:prstGeom prst="rect">
            <a:avLst/>
          </a:prstGeom>
          <a:solidFill>
            <a:srgbClr val="E9542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576072" y="1554480"/>
            <a:ext cx="3803904" cy="11292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85"/>
              </a:lnSpc>
              <a:buNone/>
            </a:pPr>
            <a:r>
              <a:rPr lang="en-US" sz="1100" dirty="0">
                <a:solidFill>
                  <a:srgbClr val="C6A9B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# 一覧更新と適用</a:t>
            </a:r>
            <a:endParaRPr lang="en-US" sz="1100" dirty="0"/>
          </a:p>
          <a:p>
            <a:pPr marL="0" indent="0">
              <a:lnSpc>
                <a:spcPts val="1485"/>
              </a:lnSpc>
              <a:buNone/>
            </a:pPr>
            <a:r>
              <a:rPr lang="en-US" sz="1100" dirty="0">
                <a:solidFill>
                  <a:srgbClr val="F7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apt update</a:t>
            </a:r>
            <a:endParaRPr lang="en-US" sz="1100" dirty="0"/>
          </a:p>
          <a:p>
            <a:pPr marL="0" indent="0">
              <a:lnSpc>
                <a:spcPts val="1485"/>
              </a:lnSpc>
              <a:buNone/>
            </a:pPr>
            <a:r>
              <a:rPr lang="en-US" sz="1100" dirty="0">
                <a:solidFill>
                  <a:srgbClr val="F7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apt -y upgrade</a:t>
            </a:r>
            <a:endParaRPr lang="en-US" sz="1100" dirty="0"/>
          </a:p>
          <a:p>
            <a:pPr marL="0" indent="0">
              <a:lnSpc>
                <a:spcPts val="1485"/>
              </a:lnSpc>
              <a:buNone/>
            </a:pPr>
            <a:r>
              <a:rPr lang="en-US" sz="1100" dirty="0">
                <a:solidFill>
                  <a:srgbClr val="F7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apt -y install</a:t>
            </a:r>
            <a:endParaRPr lang="en-US" sz="1100" dirty="0"/>
          </a:p>
          <a:p>
            <a:pPr marL="0" indent="0">
              <a:lnSpc>
                <a:spcPts val="1485"/>
              </a:lnSpc>
              <a:buNone/>
            </a:pPr>
            <a:r>
              <a:rPr lang="en-US" sz="1100" dirty="0">
                <a:solidFill>
                  <a:srgbClr val="F7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wget ca-certificates gnupg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29718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E27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② 時刻・ロケールの確認</a:t>
            </a:r>
            <a:endParaRPr lang="en-US" sz="1250" dirty="0"/>
          </a:p>
        </p:txBody>
      </p:sp>
      <p:sp>
        <p:nvSpPr>
          <p:cNvPr id="13" name="コマンド枠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11480" y="3282696"/>
            <a:ext cx="4114800" cy="1170432"/>
          </a:xfrm>
          <a:prstGeom prst="rect">
            <a:avLst/>
          </a:prstGeom>
          <a:solidFill>
            <a:srgbClr val="2D1B2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4" name="コマンド枠のアクセント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11480" y="3282696"/>
            <a:ext cx="54864" cy="1170432"/>
          </a:xfrm>
          <a:prstGeom prst="rect">
            <a:avLst/>
          </a:prstGeom>
          <a:solidFill>
            <a:srgbClr val="E9542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/>
          <p:nvPr/>
        </p:nvSpPr>
        <p:spPr>
          <a:xfrm>
            <a:off x="576072" y="3410712"/>
            <a:ext cx="38039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85"/>
              </a:lnSpc>
              <a:buNone/>
            </a:pPr>
            <a:r>
              <a:rPr lang="en-US" sz="1100" dirty="0">
                <a:solidFill>
                  <a:srgbClr val="F7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timedatectl</a:t>
            </a:r>
            <a:endParaRPr lang="en-US" sz="1100" dirty="0"/>
          </a:p>
          <a:p>
            <a:pPr marL="0" indent="0">
              <a:lnSpc>
                <a:spcPts val="1485"/>
              </a:lnSpc>
              <a:buNone/>
            </a:pPr>
            <a:r>
              <a:rPr lang="en-US" sz="1100" dirty="0">
                <a:solidFill>
                  <a:srgbClr val="F7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timedatectl set-timezone</a:t>
            </a:r>
            <a:endParaRPr lang="en-US" sz="1100" dirty="0"/>
          </a:p>
          <a:p>
            <a:pPr marL="0" indent="0">
              <a:lnSpc>
                <a:spcPts val="1485"/>
              </a:lnSpc>
              <a:buNone/>
            </a:pPr>
            <a:r>
              <a:rPr lang="en-US" sz="1100" dirty="0">
                <a:solidFill>
                  <a:srgbClr val="F7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Asia/Tokyo</a:t>
            </a:r>
            <a:endParaRPr lang="en-US" sz="1100" dirty="0"/>
          </a:p>
          <a:p>
            <a:pPr marL="0" indent="0">
              <a:lnSpc>
                <a:spcPts val="1485"/>
              </a:lnSpc>
              <a:buNone/>
            </a:pPr>
            <a:r>
              <a:rPr lang="en-US" sz="1100" dirty="0">
                <a:solidFill>
                  <a:srgbClr val="F7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locale</a:t>
            </a:r>
            <a:endParaRPr lang="en-US" sz="1100" dirty="0"/>
          </a:p>
        </p:txBody>
      </p:sp>
      <p:sp>
        <p:nvSpPr>
          <p:cNvPr id="16" name="カード背景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09160" y="1115568"/>
            <a:ext cx="40233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ADFE6"/>
            </a:solidFill>
            <a:prstDash val="solid"/>
          </a:ln>
          <a:effectLst>
            <a:outerShdw blurRad="127000" dist="25400" dir="5400000" algn="bl" rotWithShape="0">
              <a:srgbClr val="5E275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7" name="カードのアクセント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09160" y="1115568"/>
            <a:ext cx="64008" cy="1828800"/>
          </a:xfrm>
          <a:prstGeom prst="rect">
            <a:avLst/>
          </a:prstGeom>
          <a:solidFill>
            <a:srgbClr val="E95420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18" name="Image 0" descr="/agent/turn1/workspace/assets/icon-pre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8616" y="1261872"/>
            <a:ext cx="438912" cy="438912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5477256" y="1261872"/>
            <a:ext cx="30723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E27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確認すべきポイント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4937760" y="1847088"/>
            <a:ext cx="361188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2B212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・OS バージョン：lsb_release -a で LTS か確認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2B212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・既存の PostgreSQL の有無を確認（dpkg -l）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2B212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・upgrade 後に再起動が必要な場合は reboot</a:t>
            </a:r>
            <a:endParaRPr lang="en-US" sz="1050" dirty="0"/>
          </a:p>
        </p:txBody>
      </p:sp>
      <p:sp>
        <p:nvSpPr>
          <p:cNvPr id="21" name="注意ボックス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09160" y="3108960"/>
            <a:ext cx="4023360" cy="1371600"/>
          </a:xfrm>
          <a:prstGeom prst="rect">
            <a:avLst/>
          </a:prstGeom>
          <a:solidFill>
            <a:srgbClr val="FBEDE7"/>
          </a:solidFill>
          <a:ln w="12700">
            <a:solidFill>
              <a:srgbClr val="F3C9B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注意ボックスのアクセント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09160" y="3108960"/>
            <a:ext cx="64008" cy="1371600"/>
          </a:xfrm>
          <a:prstGeom prst="rect">
            <a:avLst/>
          </a:prstGeom>
          <a:solidFill>
            <a:srgbClr val="E9542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3" name="Text 20"/>
          <p:cNvSpPr/>
          <p:nvPr/>
        </p:nvSpPr>
        <p:spPr>
          <a:xfrm>
            <a:off x="4937760" y="32186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33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注意事項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4937760" y="3547872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2B212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タイムゾーンが UTC のままだとログやタイムスタンプ列の解釈がずれます。本番導入前に必ず統一してください。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411480" y="4718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16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PostgreSQL on Ubuntu Server ｜ 構築手順書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8138160" y="4718304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5E27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帯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5E275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アクセント線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868680"/>
            <a:ext cx="9144000" cy="50292"/>
          </a:xfrm>
          <a:prstGeom prst="rect">
            <a:avLst/>
          </a:prstGeom>
          <a:solidFill>
            <a:srgbClr val="E9542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ステップ番号の背景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11480" y="219456"/>
            <a:ext cx="1051560" cy="420624"/>
          </a:xfrm>
          <a:prstGeom prst="rect">
            <a:avLst/>
          </a:prstGeom>
          <a:solidFill>
            <a:srgbClr val="E9542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411480" y="219456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STEP 2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600200" y="182880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インストール：APT からの導入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627632" y="548640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5D4E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標準リポジトリまたは公式 PGDG リポジトリを選択します</a:t>
            </a:r>
            <a:endParaRPr lang="en-US" sz="1050" dirty="0"/>
          </a:p>
        </p:txBody>
      </p:sp>
      <p:sp>
        <p:nvSpPr>
          <p:cNvPr id="8" name="見出し帯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11480" y="1115568"/>
            <a:ext cx="3611880" cy="384048"/>
          </a:xfrm>
          <a:prstGeom prst="rect">
            <a:avLst/>
          </a:prstGeom>
          <a:solidFill>
            <a:srgbClr val="772953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566928" y="1115568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方法A：Ubuntu 標準リポジトリ</a:t>
            </a:r>
            <a:endParaRPr lang="en-US" sz="1150" dirty="0"/>
          </a:p>
        </p:txBody>
      </p:sp>
      <p:sp>
        <p:nvSpPr>
          <p:cNvPr id="10" name="コマンド枠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11480" y="1572768"/>
            <a:ext cx="3611880" cy="873252"/>
          </a:xfrm>
          <a:prstGeom prst="rect">
            <a:avLst/>
          </a:prstGeom>
          <a:solidFill>
            <a:srgbClr val="2D1B2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1" name="コマンド枠のアクセント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11480" y="1572768"/>
            <a:ext cx="54864" cy="873252"/>
          </a:xfrm>
          <a:prstGeom prst="rect">
            <a:avLst/>
          </a:prstGeom>
          <a:solidFill>
            <a:srgbClr val="E9542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576072" y="1700784"/>
            <a:ext cx="3300984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83"/>
              </a:lnSpc>
              <a:buNone/>
            </a:pPr>
            <a:r>
              <a:rPr lang="en-US" sz="950" dirty="0">
                <a:solidFill>
                  <a:srgbClr val="F7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apt -y install \</a:t>
            </a:r>
            <a:endParaRPr lang="en-US" sz="950" dirty="0"/>
          </a:p>
          <a:p>
            <a:pPr marL="0" indent="0">
              <a:lnSpc>
                <a:spcPts val="1283"/>
              </a:lnSpc>
              <a:buNone/>
            </a:pPr>
            <a:r>
              <a:rPr lang="en-US" sz="950" dirty="0">
                <a:solidFill>
                  <a:srgbClr val="F7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postgresql postgresql-contrib</a:t>
            </a:r>
            <a:endParaRPr lang="en-US" sz="950" dirty="0"/>
          </a:p>
          <a:p>
            <a:pPr marL="0" indent="0">
              <a:lnSpc>
                <a:spcPts val="1283"/>
              </a:lnSpc>
              <a:buNone/>
            </a:pPr>
            <a:r>
              <a:rPr lang="en-US" sz="950" dirty="0">
                <a:solidFill>
                  <a:srgbClr val="F7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psql --version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11480" y="2487168"/>
            <a:ext cx="3611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00" dirty="0">
                <a:solidFill>
                  <a:srgbClr val="6E616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手順が最も簡単で、OS のサポート期間に追従します。ただし導入できるバージョンは OS ごとに固定され、最新版は選べません。検証環境や小規模な用途に適しています。</a:t>
            </a:r>
            <a:endParaRPr lang="en-US" sz="1000" dirty="0"/>
          </a:p>
        </p:txBody>
      </p:sp>
      <p:sp>
        <p:nvSpPr>
          <p:cNvPr id="14" name="見出し帯B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251960" y="1115568"/>
            <a:ext cx="4480560" cy="384048"/>
          </a:xfrm>
          <a:prstGeom prst="rect">
            <a:avLst/>
          </a:prstGeom>
          <a:solidFill>
            <a:srgbClr val="E9542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/>
          <p:nvPr/>
        </p:nvSpPr>
        <p:spPr>
          <a:xfrm>
            <a:off x="4407408" y="1115568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方法B：PGDG 公式リポジトリ（推奨）</a:t>
            </a:r>
            <a:endParaRPr lang="en-US" sz="1150" dirty="0"/>
          </a:p>
        </p:txBody>
      </p:sp>
      <p:sp>
        <p:nvSpPr>
          <p:cNvPr id="16" name="コマンド枠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251960" y="1572768"/>
            <a:ext cx="4480560" cy="1810512"/>
          </a:xfrm>
          <a:prstGeom prst="rect">
            <a:avLst/>
          </a:prstGeom>
          <a:solidFill>
            <a:srgbClr val="2D1B2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7" name="コマンド枠のアクセント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251960" y="1572768"/>
            <a:ext cx="54864" cy="1810512"/>
          </a:xfrm>
          <a:prstGeom prst="rect">
            <a:avLst/>
          </a:prstGeom>
          <a:solidFill>
            <a:srgbClr val="E9542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/>
          <p:nvPr/>
        </p:nvSpPr>
        <p:spPr>
          <a:xfrm>
            <a:off x="4416552" y="1700784"/>
            <a:ext cx="416966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15"/>
              </a:lnSpc>
              <a:buNone/>
            </a:pPr>
            <a:r>
              <a:rPr lang="en-US" sz="900" dirty="0">
                <a:solidFill>
                  <a:srgbClr val="F7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sh -c 'echo "deb http://apt.postgresql.org\</a:t>
            </a:r>
            <a:endParaRPr lang="en-US" sz="900" dirty="0"/>
          </a:p>
          <a:p>
            <a:pPr marL="0" indent="0">
              <a:lnSpc>
                <a:spcPts val="1215"/>
              </a:lnSpc>
              <a:buNone/>
            </a:pPr>
            <a:r>
              <a:rPr lang="en-US" sz="900" dirty="0">
                <a:solidFill>
                  <a:srgbClr val="F7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/pub/repos/apt $(lsb_release -cs)-pgdg main"</a:t>
            </a:r>
            <a:endParaRPr lang="en-US" sz="900" dirty="0"/>
          </a:p>
          <a:p>
            <a:pPr marL="0" indent="0">
              <a:lnSpc>
                <a:spcPts val="1215"/>
              </a:lnSpc>
              <a:buNone/>
            </a:pPr>
            <a:r>
              <a:rPr lang="en-US" sz="900" dirty="0">
                <a:solidFill>
                  <a:srgbClr val="F7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&gt; /etc/apt/sources.list.d/pgdg.list'</a:t>
            </a:r>
            <a:endParaRPr lang="en-US" sz="900" dirty="0"/>
          </a:p>
          <a:p>
            <a:pPr marL="0" indent="0">
              <a:lnSpc>
                <a:spcPts val="1215"/>
              </a:lnSpc>
              <a:buNone/>
            </a:pPr>
            <a:r>
              <a:rPr lang="en-US" sz="900" dirty="0">
                <a:solidFill>
                  <a:srgbClr val="F7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wget -qO- https://www.postgresql.org/media\</a:t>
            </a:r>
            <a:endParaRPr lang="en-US" sz="900" dirty="0"/>
          </a:p>
          <a:p>
            <a:pPr marL="0" indent="0">
              <a:lnSpc>
                <a:spcPts val="1215"/>
              </a:lnSpc>
              <a:buNone/>
            </a:pPr>
            <a:r>
              <a:rPr lang="en-US" sz="900" dirty="0">
                <a:solidFill>
                  <a:srgbClr val="F7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/keys/ACCC4CF8.asc | sudo tee \</a:t>
            </a:r>
            <a:endParaRPr lang="en-US" sz="900" dirty="0"/>
          </a:p>
          <a:p>
            <a:pPr marL="0" indent="0">
              <a:lnSpc>
                <a:spcPts val="1215"/>
              </a:lnSpc>
              <a:buNone/>
            </a:pPr>
            <a:r>
              <a:rPr lang="en-US" sz="900" dirty="0">
                <a:solidFill>
                  <a:srgbClr val="F7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/etc/apt/trusted.gpg.d/pgdg.asc</a:t>
            </a:r>
            <a:endParaRPr lang="en-US" sz="900" dirty="0"/>
          </a:p>
          <a:p>
            <a:pPr marL="0" indent="0">
              <a:lnSpc>
                <a:spcPts val="1215"/>
              </a:lnSpc>
              <a:buNone/>
            </a:pPr>
            <a:r>
              <a:rPr lang="en-US" sz="900" dirty="0">
                <a:solidFill>
                  <a:srgbClr val="F7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apt update</a:t>
            </a:r>
            <a:endParaRPr lang="en-US" sz="900" dirty="0"/>
          </a:p>
          <a:p>
            <a:pPr marL="0" indent="0">
              <a:lnSpc>
                <a:spcPts val="1215"/>
              </a:lnSpc>
              <a:buNone/>
            </a:pPr>
            <a:r>
              <a:rPr lang="en-US" sz="900" dirty="0">
                <a:solidFill>
                  <a:srgbClr val="F7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apt -y install postgresql-16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251960" y="349300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00" dirty="0">
                <a:solidFill>
                  <a:srgbClr val="6E616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最新の安定版を選べ、バージョンを固定した避難も可能です。本番環境ではこちらを推奨します。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11480" y="4718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16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PostgreSQL on Ubuntu Server ｜ 構築手順書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138160" y="4718304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5E27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帯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5E275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アクセント線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868680"/>
            <a:ext cx="9144000" cy="50292"/>
          </a:xfrm>
          <a:prstGeom prst="rect">
            <a:avLst/>
          </a:prstGeom>
          <a:solidFill>
            <a:srgbClr val="E9542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ステップ番号の背景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11480" y="219456"/>
            <a:ext cx="1051560" cy="420624"/>
          </a:xfrm>
          <a:prstGeom prst="rect">
            <a:avLst/>
          </a:prstGeom>
          <a:solidFill>
            <a:srgbClr val="E9542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411480" y="219456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STEP 3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600200" y="182880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サービス起動の確認と初期パスワード設定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627632" y="548640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5D4E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自動起動を有効化し、postgres ユーザーで接続します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11480" y="11155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E27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① サービスの状態確認と自動起動</a:t>
            </a:r>
            <a:endParaRPr lang="en-US" sz="1250" dirty="0"/>
          </a:p>
        </p:txBody>
      </p:sp>
      <p:sp>
        <p:nvSpPr>
          <p:cNvPr id="9" name="コマンド枠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11480" y="1426464"/>
            <a:ext cx="4846320" cy="1170432"/>
          </a:xfrm>
          <a:prstGeom prst="rect">
            <a:avLst/>
          </a:prstGeom>
          <a:solidFill>
            <a:srgbClr val="2D1B2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コマンド枠のアクセント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11480" y="1426464"/>
            <a:ext cx="54864" cy="1170432"/>
          </a:xfrm>
          <a:prstGeom prst="rect">
            <a:avLst/>
          </a:prstGeom>
          <a:solidFill>
            <a:srgbClr val="E9542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576072" y="1554480"/>
            <a:ext cx="45354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85"/>
              </a:lnSpc>
              <a:buNone/>
            </a:pPr>
            <a:r>
              <a:rPr lang="en-US" sz="1100" dirty="0">
                <a:solidFill>
                  <a:srgbClr val="F7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systemctl status postgresql</a:t>
            </a:r>
            <a:endParaRPr lang="en-US" sz="1100" dirty="0"/>
          </a:p>
          <a:p>
            <a:pPr marL="0" indent="0">
              <a:lnSpc>
                <a:spcPts val="1485"/>
              </a:lnSpc>
              <a:buNone/>
            </a:pPr>
            <a:r>
              <a:rPr lang="en-US" sz="1100" dirty="0">
                <a:solidFill>
                  <a:srgbClr val="F7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systemctl enable --now postgresql</a:t>
            </a:r>
            <a:endParaRPr lang="en-US" sz="1100" dirty="0"/>
          </a:p>
          <a:p>
            <a:pPr marL="0" indent="0">
              <a:lnSpc>
                <a:spcPts val="1485"/>
              </a:lnSpc>
              <a:buNone/>
            </a:pPr>
            <a:r>
              <a:rPr lang="en-US" sz="1100" dirty="0">
                <a:solidFill>
                  <a:srgbClr val="C6A9B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# 待ち受けポートの確認</a:t>
            </a:r>
            <a:endParaRPr lang="en-US" sz="1100" dirty="0"/>
          </a:p>
          <a:p>
            <a:pPr marL="0" indent="0">
              <a:lnSpc>
                <a:spcPts val="1485"/>
              </a:lnSpc>
              <a:buNone/>
            </a:pPr>
            <a:r>
              <a:rPr lang="en-US" sz="1100" dirty="0">
                <a:solidFill>
                  <a:srgbClr val="F7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ss -lntp | grep 5432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27889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E27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② 管理ユーザーへの接続とパスワード設定</a:t>
            </a:r>
            <a:endParaRPr lang="en-US" sz="1250" dirty="0"/>
          </a:p>
        </p:txBody>
      </p:sp>
      <p:sp>
        <p:nvSpPr>
          <p:cNvPr id="13" name="コマンド枠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11480" y="3099816"/>
            <a:ext cx="4846320" cy="1170432"/>
          </a:xfrm>
          <a:prstGeom prst="rect">
            <a:avLst/>
          </a:prstGeom>
          <a:solidFill>
            <a:srgbClr val="2D1B2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4" name="コマンド枠のアクセント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11480" y="3099816"/>
            <a:ext cx="54864" cy="1170432"/>
          </a:xfrm>
          <a:prstGeom prst="rect">
            <a:avLst/>
          </a:prstGeom>
          <a:solidFill>
            <a:srgbClr val="E9542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/>
          <p:nvPr/>
        </p:nvSpPr>
        <p:spPr>
          <a:xfrm>
            <a:off x="576072" y="3227832"/>
            <a:ext cx="45354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85"/>
              </a:lnSpc>
              <a:buNone/>
            </a:pPr>
            <a:r>
              <a:rPr lang="en-US" sz="1100" dirty="0">
                <a:solidFill>
                  <a:srgbClr val="F7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-i -u postgres psql</a:t>
            </a:r>
            <a:endParaRPr lang="en-US" sz="1100" dirty="0"/>
          </a:p>
          <a:p>
            <a:pPr marL="0" indent="0">
              <a:lnSpc>
                <a:spcPts val="1485"/>
              </a:lnSpc>
              <a:buNone/>
            </a:pPr>
            <a:r>
              <a:rPr lang="en-US" sz="1100" dirty="0">
                <a:solidFill>
                  <a:srgbClr val="F7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postgres=# \password postgres</a:t>
            </a:r>
            <a:endParaRPr lang="en-US" sz="1100" dirty="0"/>
          </a:p>
          <a:p>
            <a:pPr marL="0" indent="0">
              <a:lnSpc>
                <a:spcPts val="1485"/>
              </a:lnSpc>
              <a:buNone/>
            </a:pPr>
            <a:r>
              <a:rPr lang="en-US" sz="1100" dirty="0">
                <a:solidFill>
                  <a:srgbClr val="F7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postgres=# \l</a:t>
            </a:r>
            <a:endParaRPr lang="en-US" sz="1100" dirty="0"/>
          </a:p>
          <a:p>
            <a:pPr marL="0" indent="0">
              <a:lnSpc>
                <a:spcPts val="1485"/>
              </a:lnSpc>
              <a:buNone/>
            </a:pPr>
            <a:r>
              <a:rPr lang="en-US" sz="1100" dirty="0">
                <a:solidFill>
                  <a:srgbClr val="F7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postgres=# \q</a:t>
            </a:r>
            <a:endParaRPr lang="en-US" sz="1100" dirty="0"/>
          </a:p>
        </p:txBody>
      </p:sp>
      <p:sp>
        <p:nvSpPr>
          <p:cNvPr id="16" name="カード背景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40680" y="1115568"/>
            <a:ext cx="329184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ADFE6"/>
            </a:solidFill>
            <a:prstDash val="solid"/>
          </a:ln>
          <a:effectLst>
            <a:outerShdw blurRad="127000" dist="25400" dir="5400000" algn="bl" rotWithShape="0">
              <a:srgbClr val="5E275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7" name="カードのアクセント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40680" y="1115568"/>
            <a:ext cx="64008" cy="3383280"/>
          </a:xfrm>
          <a:prstGeom prst="rect">
            <a:avLst/>
          </a:prstGeom>
          <a:solidFill>
            <a:srgbClr val="E95420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18" name="Image 0" descr="/agent/turn1/workspace/assets/icon-confi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0136" y="1261872"/>
            <a:ext cx="438912" cy="438912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6208776" y="1261872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E27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psql の基本コマンド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669280" y="1847088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B33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\l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6675120" y="184708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B212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データベース一覧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5669280" y="2112264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B33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\c db名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6675120" y="211226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B212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接続先を切り替え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5669280" y="2377440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B33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\dt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6675120" y="237744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B212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テーブル一覧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5669280" y="2642616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B33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\du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6675120" y="264261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B212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ロール一覧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5669280" y="2907792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B33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\conninfo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6675120" y="290779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B212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接続情報の表示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5669280" y="3172968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B33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\?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6675120" y="317296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B212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ヘルプ表示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5669280" y="3438144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B33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\q</a:t>
            </a:r>
            <a:endParaRPr lang="en-US" sz="1050" dirty="0"/>
          </a:p>
        </p:txBody>
      </p:sp>
      <p:sp>
        <p:nvSpPr>
          <p:cNvPr id="33" name="Text 30"/>
          <p:cNvSpPr/>
          <p:nvPr/>
        </p:nvSpPr>
        <p:spPr>
          <a:xfrm>
            <a:off x="6675120" y="343814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B212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psql を終了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5669280" y="3776472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950" dirty="0">
                <a:solidFill>
                  <a:srgbClr val="6E616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設定ファイル：/etc/postgresql/16/main/</a:t>
            </a:r>
            <a:endParaRPr lang="en-US" sz="9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950" dirty="0">
                <a:solidFill>
                  <a:srgbClr val="6E616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データ格納先：/var/lib/postgresql/16/main/</a:t>
            </a:r>
            <a:endParaRPr lang="en-US" sz="950" dirty="0"/>
          </a:p>
        </p:txBody>
      </p:sp>
      <p:sp>
        <p:nvSpPr>
          <p:cNvPr id="35" name="Text 32"/>
          <p:cNvSpPr/>
          <p:nvPr/>
        </p:nvSpPr>
        <p:spPr>
          <a:xfrm>
            <a:off x="411480" y="4718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16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PostgreSQL on Ubuntu Server ｜ 構築手順書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8138160" y="4718304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5E27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帯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5E275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アクセント線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868680"/>
            <a:ext cx="9144000" cy="50292"/>
          </a:xfrm>
          <a:prstGeom prst="rect">
            <a:avLst/>
          </a:prstGeom>
          <a:solidFill>
            <a:srgbClr val="E9542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ステップ番号の背景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11480" y="219456"/>
            <a:ext cx="1051560" cy="420624"/>
          </a:xfrm>
          <a:prstGeom prst="rect">
            <a:avLst/>
          </a:prstGeom>
          <a:solidFill>
            <a:srgbClr val="E9542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411480" y="219456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STEP 4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600200" y="182880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データベースとロールの作成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627632" y="548640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5D4E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アプリケーション用のロールと DB を用意し、権限を付与します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11480" y="111556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E27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① ロールとデータベースの作成（psql 内）</a:t>
            </a:r>
            <a:endParaRPr lang="en-US" sz="1250" dirty="0"/>
          </a:p>
        </p:txBody>
      </p:sp>
      <p:sp>
        <p:nvSpPr>
          <p:cNvPr id="9" name="コマンド枠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11480" y="1426464"/>
            <a:ext cx="5029200" cy="1883664"/>
          </a:xfrm>
          <a:prstGeom prst="rect">
            <a:avLst/>
          </a:prstGeom>
          <a:solidFill>
            <a:srgbClr val="2D1B2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コマンド枠のアクセント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11480" y="1426464"/>
            <a:ext cx="54864" cy="1883664"/>
          </a:xfrm>
          <a:prstGeom prst="rect">
            <a:avLst/>
          </a:prstGeom>
          <a:solidFill>
            <a:srgbClr val="E9542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576072" y="1554480"/>
            <a:ext cx="4718304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50"/>
              </a:lnSpc>
              <a:buNone/>
            </a:pPr>
            <a:r>
              <a:rPr lang="en-US" sz="1000" dirty="0">
                <a:solidFill>
                  <a:srgbClr val="F7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ROLE app_user WITH LOGIN</a:t>
            </a:r>
            <a:endParaRPr lang="en-US" sz="1000" dirty="0"/>
          </a:p>
          <a:p>
            <a:pPr marL="0" indent="0">
              <a:lnSpc>
                <a:spcPts val="1350"/>
              </a:lnSpc>
              <a:buNone/>
            </a:pPr>
            <a:r>
              <a:rPr lang="en-US" sz="1000" dirty="0">
                <a:solidFill>
                  <a:srgbClr val="F7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PASSWORD 'ChangeMe_2026!';</a:t>
            </a:r>
            <a:endParaRPr lang="en-US" sz="1000" dirty="0"/>
          </a:p>
          <a:p>
            <a:pPr marL="0" indent="0">
              <a:lnSpc>
                <a:spcPts val="1350"/>
              </a:lnSpc>
              <a:buNone/>
            </a:pPr>
            <a:r>
              <a:rPr lang="en-US" sz="1000" dirty="0">
                <a:solidFill>
                  <a:srgbClr val="F7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DATABASE app_db</a:t>
            </a:r>
            <a:endParaRPr lang="en-US" sz="1000" dirty="0"/>
          </a:p>
          <a:p>
            <a:pPr marL="0" indent="0">
              <a:lnSpc>
                <a:spcPts val="1350"/>
              </a:lnSpc>
              <a:buNone/>
            </a:pPr>
            <a:r>
              <a:rPr lang="en-US" sz="1000" dirty="0">
                <a:solidFill>
                  <a:srgbClr val="F7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OWNER app_user ENCODING 'UTF8'</a:t>
            </a:r>
            <a:endParaRPr lang="en-US" sz="1000" dirty="0"/>
          </a:p>
          <a:p>
            <a:pPr marL="0" indent="0">
              <a:lnSpc>
                <a:spcPts val="1350"/>
              </a:lnSpc>
              <a:buNone/>
            </a:pPr>
            <a:r>
              <a:rPr lang="en-US" sz="1000" dirty="0">
                <a:solidFill>
                  <a:srgbClr val="F7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LC_COLLATE 'C.UTF-8' LC_CTYPE 'C.UTF-8'</a:t>
            </a:r>
            <a:endParaRPr lang="en-US" sz="1000" dirty="0"/>
          </a:p>
          <a:p>
            <a:pPr marL="0" indent="0">
              <a:lnSpc>
                <a:spcPts val="1350"/>
              </a:lnSpc>
              <a:buNone/>
            </a:pPr>
            <a:r>
              <a:rPr lang="en-US" sz="1000" dirty="0">
                <a:solidFill>
                  <a:srgbClr val="F7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TEMPLATE template0;</a:t>
            </a:r>
            <a:endParaRPr lang="en-US" sz="1000" dirty="0"/>
          </a:p>
          <a:p>
            <a:pPr marL="0" indent="0">
              <a:lnSpc>
                <a:spcPts val="1350"/>
              </a:lnSpc>
              <a:buNone/>
            </a:pPr>
            <a:r>
              <a:rPr lang="en-US" sz="1000" dirty="0">
                <a:solidFill>
                  <a:srgbClr val="F7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GRANT ALL PRIVILEGES ON DATABASE app_db</a:t>
            </a:r>
            <a:endParaRPr lang="en-US" sz="1000" dirty="0"/>
          </a:p>
          <a:p>
            <a:pPr marL="0" indent="0">
              <a:lnSpc>
                <a:spcPts val="1350"/>
              </a:lnSpc>
              <a:buNone/>
            </a:pPr>
            <a:r>
              <a:rPr lang="en-US" sz="1000" dirty="0">
                <a:solidFill>
                  <a:srgbClr val="F7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TO app_user;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11480" y="340156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E27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② 作成したユーザーで接続確認</a:t>
            </a:r>
            <a:endParaRPr lang="en-US" sz="1250" dirty="0"/>
          </a:p>
        </p:txBody>
      </p:sp>
      <p:sp>
        <p:nvSpPr>
          <p:cNvPr id="13" name="コマンド枠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11480" y="3712464"/>
            <a:ext cx="5029200" cy="507492"/>
          </a:xfrm>
          <a:prstGeom prst="rect">
            <a:avLst/>
          </a:prstGeom>
          <a:solidFill>
            <a:srgbClr val="2D1B2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4" name="コマンド枠のアクセント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11480" y="3712464"/>
            <a:ext cx="54864" cy="507492"/>
          </a:xfrm>
          <a:prstGeom prst="rect">
            <a:avLst/>
          </a:prstGeom>
          <a:solidFill>
            <a:srgbClr val="E9542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/>
          <p:nvPr/>
        </p:nvSpPr>
        <p:spPr>
          <a:xfrm>
            <a:off x="576072" y="3840480"/>
            <a:ext cx="4718304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50"/>
              </a:lnSpc>
              <a:buNone/>
            </a:pPr>
            <a:r>
              <a:rPr lang="en-US" sz="1000" dirty="0">
                <a:solidFill>
                  <a:srgbClr val="F7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psql -h localhost -U app_user -d app_db</a:t>
            </a:r>
            <a:endParaRPr lang="en-US" sz="1000" dirty="0"/>
          </a:p>
        </p:txBody>
      </p:sp>
      <p:sp>
        <p:nvSpPr>
          <p:cNvPr id="16" name="カード背景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23560" y="1115568"/>
            <a:ext cx="31089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ADFE6"/>
            </a:solidFill>
            <a:prstDash val="solid"/>
          </a:ln>
          <a:effectLst>
            <a:outerShdw blurRad="127000" dist="25400" dir="5400000" algn="bl" rotWithShape="0">
              <a:srgbClr val="5E275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7" name="カードのアクセント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23560" y="1115568"/>
            <a:ext cx="64008" cy="3200400"/>
          </a:xfrm>
          <a:prstGeom prst="rect">
            <a:avLst/>
          </a:prstGeom>
          <a:solidFill>
            <a:srgbClr val="E95420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18" name="Image 0" descr="/agent/turn1/workspace/assets/icon-d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3016" y="1261872"/>
            <a:ext cx="438912" cy="438912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6391656" y="1261872"/>
            <a:ext cx="21579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E27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設計上の指針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852160" y="1847088"/>
            <a:ext cx="2697480" cy="2322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2B212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・アプリ用ロールと管理用ロールを分離する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2B212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・パスワードは 12 文字以上、記号を含める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2B212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・エンコーディングは UTF8 で統一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2B212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・スーパーユーザー権限は付与しない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2B212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・複数アプリが同居する場合は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2B212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スキーマ単位で分離する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411480" y="4718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16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PostgreSQL on Ubuntu Server ｜ 構築手順書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8138160" y="4718304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5E27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7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帯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5E275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アクセント線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868680"/>
            <a:ext cx="9144000" cy="50292"/>
          </a:xfrm>
          <a:prstGeom prst="rect">
            <a:avLst/>
          </a:prstGeom>
          <a:solidFill>
            <a:srgbClr val="E9542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ステップ番号の背景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11480" y="219456"/>
            <a:ext cx="1051560" cy="420624"/>
          </a:xfrm>
          <a:prstGeom prst="rect">
            <a:avLst/>
          </a:prstGeom>
          <a:solidFill>
            <a:srgbClr val="E9542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411480" y="219456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STEP 5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600200" y="182880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リモート接続と認証・ファイアウォール設定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627632" y="548640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5D4E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外部から接続する場合のみ実施してください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11480" y="111556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E27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① postgresql.conf：待ち受けアドレス</a:t>
            </a:r>
            <a:endParaRPr lang="en-US" sz="1250" dirty="0"/>
          </a:p>
        </p:txBody>
      </p:sp>
      <p:sp>
        <p:nvSpPr>
          <p:cNvPr id="9" name="コマンド枠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11480" y="1426464"/>
            <a:ext cx="4846320" cy="1097280"/>
          </a:xfrm>
          <a:prstGeom prst="rect">
            <a:avLst/>
          </a:prstGeom>
          <a:solidFill>
            <a:srgbClr val="2D1B2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コマンド枠のアクセント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11480" y="1426464"/>
            <a:ext cx="54864" cy="1097280"/>
          </a:xfrm>
          <a:prstGeom prst="rect">
            <a:avLst/>
          </a:prstGeom>
          <a:solidFill>
            <a:srgbClr val="E9542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576072" y="1554480"/>
            <a:ext cx="453542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50"/>
              </a:lnSpc>
              <a:buNone/>
            </a:pPr>
            <a:r>
              <a:rPr lang="en-US" sz="1000" dirty="0">
                <a:solidFill>
                  <a:srgbClr val="F7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nano /etc/postgresql/16/main/</a:t>
            </a:r>
            <a:endParaRPr lang="en-US" sz="1000" dirty="0"/>
          </a:p>
          <a:p>
            <a:pPr marL="0" indent="0">
              <a:lnSpc>
                <a:spcPts val="1350"/>
              </a:lnSpc>
              <a:buNone/>
            </a:pPr>
            <a:r>
              <a:rPr lang="en-US" sz="1000" dirty="0">
                <a:solidFill>
                  <a:srgbClr val="F7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postgresql.conf</a:t>
            </a:r>
            <a:endParaRPr lang="en-US" sz="1000" dirty="0"/>
          </a:p>
          <a:p>
            <a:pPr marL="0" indent="0">
              <a:lnSpc>
                <a:spcPts val="1350"/>
              </a:lnSpc>
              <a:buNone/>
            </a:pPr>
            <a:r>
              <a:rPr lang="en-US" sz="1000" dirty="0">
                <a:solidFill>
                  <a:srgbClr val="F7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listen_addresses = '*'</a:t>
            </a:r>
            <a:endParaRPr lang="en-US" sz="1000" dirty="0"/>
          </a:p>
          <a:p>
            <a:pPr marL="0" indent="0">
              <a:lnSpc>
                <a:spcPts val="1350"/>
              </a:lnSpc>
              <a:buNone/>
            </a:pPr>
            <a:r>
              <a:rPr lang="en-US" sz="1000" dirty="0">
                <a:solidFill>
                  <a:srgbClr val="F7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port = 5432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11480" y="257860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E27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② pg_hba.conf：接続元と認証方式</a:t>
            </a:r>
            <a:endParaRPr lang="en-US" sz="1250" dirty="0"/>
          </a:p>
        </p:txBody>
      </p:sp>
      <p:sp>
        <p:nvSpPr>
          <p:cNvPr id="13" name="コマンド枠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11480" y="2889504"/>
            <a:ext cx="4846320" cy="1097280"/>
          </a:xfrm>
          <a:prstGeom prst="rect">
            <a:avLst/>
          </a:prstGeom>
          <a:solidFill>
            <a:srgbClr val="2D1B2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4" name="コマンド枠のアクセント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11480" y="2889504"/>
            <a:ext cx="54864" cy="1097280"/>
          </a:xfrm>
          <a:prstGeom prst="rect">
            <a:avLst/>
          </a:prstGeom>
          <a:solidFill>
            <a:srgbClr val="E9542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/>
          <p:nvPr/>
        </p:nvSpPr>
        <p:spPr>
          <a:xfrm>
            <a:off x="576072" y="3017520"/>
            <a:ext cx="453542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50"/>
              </a:lnSpc>
              <a:buNone/>
            </a:pPr>
            <a:r>
              <a:rPr lang="en-US" sz="1000" dirty="0">
                <a:solidFill>
                  <a:srgbClr val="C6A9B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# TYPE DATABASE USER ADDRESS METHOD</a:t>
            </a:r>
            <a:endParaRPr lang="en-US" sz="1000" dirty="0"/>
          </a:p>
          <a:p>
            <a:pPr marL="0" indent="0">
              <a:lnSpc>
                <a:spcPts val="1350"/>
              </a:lnSpc>
              <a:buNone/>
            </a:pPr>
            <a:r>
              <a:rPr lang="en-US" sz="1000" dirty="0">
                <a:solidFill>
                  <a:srgbClr val="F7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host  app_db  app_user  192.168.10.0/24</a:t>
            </a:r>
            <a:endParaRPr lang="en-US" sz="1000" dirty="0"/>
          </a:p>
          <a:p>
            <a:pPr marL="0" indent="0">
              <a:lnSpc>
                <a:spcPts val="1350"/>
              </a:lnSpc>
              <a:buNone/>
            </a:pPr>
            <a:r>
              <a:rPr lang="en-US" sz="1000" dirty="0">
                <a:solidFill>
                  <a:srgbClr val="F7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scram-sha-256</a:t>
            </a:r>
            <a:endParaRPr lang="en-US" sz="1000" dirty="0"/>
          </a:p>
          <a:p>
            <a:pPr marL="0" indent="0">
              <a:lnSpc>
                <a:spcPts val="1350"/>
              </a:lnSpc>
              <a:buNone/>
            </a:pPr>
            <a:r>
              <a:rPr lang="en-US" sz="1000" dirty="0">
                <a:solidFill>
                  <a:srgbClr val="F7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systemctl reload postgresql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11480" y="3968496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E27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③ ファイアウォール</a:t>
            </a:r>
            <a:endParaRPr lang="en-US" sz="1250" dirty="0"/>
          </a:p>
        </p:txBody>
      </p:sp>
      <p:sp>
        <p:nvSpPr>
          <p:cNvPr id="17" name="コマンド枠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11480" y="4224528"/>
            <a:ext cx="4846320" cy="493776"/>
          </a:xfrm>
          <a:prstGeom prst="rect">
            <a:avLst/>
          </a:prstGeom>
          <a:solidFill>
            <a:srgbClr val="2D1B2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8" name="コマンド枠のアクセント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11480" y="4224528"/>
            <a:ext cx="54864" cy="493776"/>
          </a:xfrm>
          <a:prstGeom prst="rect">
            <a:avLst/>
          </a:prstGeom>
          <a:solidFill>
            <a:srgbClr val="E9542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7"/>
          <p:cNvSpPr/>
          <p:nvPr/>
        </p:nvSpPr>
        <p:spPr>
          <a:xfrm>
            <a:off x="576072" y="4352544"/>
            <a:ext cx="45354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15"/>
              </a:lnSpc>
              <a:buNone/>
            </a:pPr>
            <a:r>
              <a:rPr lang="en-US" sz="900" dirty="0">
                <a:solidFill>
                  <a:srgbClr val="F7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ufw allow from 192.168.10.0/24 to any port 5432</a:t>
            </a:r>
            <a:endParaRPr lang="en-US" sz="900" dirty="0"/>
          </a:p>
        </p:txBody>
      </p:sp>
      <p:sp>
        <p:nvSpPr>
          <p:cNvPr id="20" name="カード背景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40680" y="1115568"/>
            <a:ext cx="329184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ADFE6"/>
            </a:solidFill>
            <a:prstDash val="solid"/>
          </a:ln>
          <a:effectLst>
            <a:outerShdw blurRad="127000" dist="25400" dir="5400000" algn="bl" rotWithShape="0">
              <a:srgbClr val="5E275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1" name="カードのアクセント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40680" y="1115568"/>
            <a:ext cx="64008" cy="3520440"/>
          </a:xfrm>
          <a:prstGeom prst="rect">
            <a:avLst/>
          </a:prstGeom>
          <a:solidFill>
            <a:srgbClr val="E95420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22" name="Image 0" descr="/agent/turn1/workspace/assets/icon-secur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0136" y="1261872"/>
            <a:ext cx="438912" cy="438912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6208776" y="1261872"/>
            <a:ext cx="23408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E27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セキュリティ上の注意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5669280" y="1847088"/>
            <a:ext cx="2880360" cy="2642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2B212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・接続元は必ず CIDR で限定し、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2B212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0.0.0.0/0 は許可しない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2B212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・認証方式は scram-sha-256 を使用し、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2B212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trust / md5 は使わない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2B212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・外部経由の接続は VPN または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2B212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SSH ポートフォワードを経由させる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2B212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・設定変更後は reload、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2B212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listen_addresses の変更時は restart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2B212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・変更前に設定ファイルを必ず退避する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411480" y="4718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16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PostgreSQL on Ubuntu Server ｜ 構築手順書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8138160" y="4718304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5E27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8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帯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5E275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アクセント線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868680"/>
            <a:ext cx="9144000" cy="50292"/>
          </a:xfrm>
          <a:prstGeom prst="rect">
            <a:avLst/>
          </a:prstGeom>
          <a:solidFill>
            <a:srgbClr val="E9542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ステップ番号の背景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11480" y="219456"/>
            <a:ext cx="1051560" cy="420624"/>
          </a:xfrm>
          <a:prstGeom prst="rect">
            <a:avLst/>
          </a:prstGeom>
          <a:solidFill>
            <a:srgbClr val="E9542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411480" y="219456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STEP 6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600200" y="182880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バックアップと日常運用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627632" y="548640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5D4E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定期取得とリストア手順をセットで整備します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11480" y="111556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E27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① 論理バックアップ（pg_dump）</a:t>
            </a:r>
            <a:endParaRPr lang="en-US" sz="1250" dirty="0"/>
          </a:p>
        </p:txBody>
      </p:sp>
      <p:sp>
        <p:nvSpPr>
          <p:cNvPr id="9" name="コマンド枠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11480" y="1426464"/>
            <a:ext cx="4846320" cy="1078992"/>
          </a:xfrm>
          <a:prstGeom prst="rect">
            <a:avLst/>
          </a:prstGeom>
          <a:solidFill>
            <a:srgbClr val="2D1B2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コマンド枠のアクセント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11480" y="1426464"/>
            <a:ext cx="54864" cy="1078992"/>
          </a:xfrm>
          <a:prstGeom prst="rect">
            <a:avLst/>
          </a:prstGeom>
          <a:solidFill>
            <a:srgbClr val="E9542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576072" y="1554480"/>
            <a:ext cx="45354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83"/>
              </a:lnSpc>
              <a:buNone/>
            </a:pPr>
            <a:r>
              <a:rPr lang="en-US" sz="950" dirty="0">
                <a:solidFill>
                  <a:srgbClr val="F7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-u postgres pg_dump -Fc app_db \</a:t>
            </a:r>
            <a:endParaRPr lang="en-US" sz="950" dirty="0"/>
          </a:p>
          <a:p>
            <a:pPr marL="0" indent="0">
              <a:lnSpc>
                <a:spcPts val="1283"/>
              </a:lnSpc>
              <a:buNone/>
            </a:pPr>
            <a:r>
              <a:rPr lang="en-US" sz="950" dirty="0">
                <a:solidFill>
                  <a:srgbClr val="F7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-f /var/backups/app_db_$(date +%F).dump</a:t>
            </a:r>
            <a:endParaRPr lang="en-US" sz="950" dirty="0"/>
          </a:p>
          <a:p>
            <a:pPr marL="0" indent="0">
              <a:lnSpc>
                <a:spcPts val="1283"/>
              </a:lnSpc>
              <a:buNone/>
            </a:pPr>
            <a:r>
              <a:rPr lang="en-US" sz="950" dirty="0">
                <a:solidFill>
                  <a:srgbClr val="C6A9B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# 全体バックアップ</a:t>
            </a:r>
            <a:endParaRPr lang="en-US" sz="950" dirty="0"/>
          </a:p>
          <a:p>
            <a:pPr marL="0" indent="0">
              <a:lnSpc>
                <a:spcPts val="1283"/>
              </a:lnSpc>
              <a:buNone/>
            </a:pPr>
            <a:r>
              <a:rPr lang="en-US" sz="950" dirty="0">
                <a:solidFill>
                  <a:srgbClr val="F7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-u postgres pg_dumpall -f /var/backups/all.sql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11480" y="25603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E27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② リストア</a:t>
            </a:r>
            <a:endParaRPr lang="en-US" sz="1250" dirty="0"/>
          </a:p>
        </p:txBody>
      </p:sp>
      <p:sp>
        <p:nvSpPr>
          <p:cNvPr id="13" name="コマンド枠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11480" y="2871216"/>
            <a:ext cx="4846320" cy="694944"/>
          </a:xfrm>
          <a:prstGeom prst="rect">
            <a:avLst/>
          </a:prstGeom>
          <a:solidFill>
            <a:srgbClr val="2D1B2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4" name="コマンド枠のアクセント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11480" y="2871216"/>
            <a:ext cx="54864" cy="694944"/>
          </a:xfrm>
          <a:prstGeom prst="rect">
            <a:avLst/>
          </a:prstGeom>
          <a:solidFill>
            <a:srgbClr val="E9542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/>
          <p:nvPr/>
        </p:nvSpPr>
        <p:spPr>
          <a:xfrm>
            <a:off x="576072" y="2999232"/>
            <a:ext cx="45354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83"/>
              </a:lnSpc>
              <a:buNone/>
            </a:pPr>
            <a:r>
              <a:rPr lang="en-US" sz="950" dirty="0">
                <a:solidFill>
                  <a:srgbClr val="F7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-u postgres pg_restore -d app_db \</a:t>
            </a:r>
            <a:endParaRPr lang="en-US" sz="950" dirty="0"/>
          </a:p>
          <a:p>
            <a:pPr marL="0" indent="0">
              <a:lnSpc>
                <a:spcPts val="1283"/>
              </a:lnSpc>
              <a:buNone/>
            </a:pPr>
            <a:r>
              <a:rPr lang="en-US" sz="950" dirty="0">
                <a:solidFill>
                  <a:srgbClr val="F7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--clean /var/backups/app_db_2026-09-18.dump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11480" y="37033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E27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③ cron による定期実行（毎日 2:00）</a:t>
            </a:r>
            <a:endParaRPr lang="en-US" sz="1250" dirty="0"/>
          </a:p>
        </p:txBody>
      </p:sp>
      <p:sp>
        <p:nvSpPr>
          <p:cNvPr id="17" name="コマンド枠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11480" y="4014216"/>
            <a:ext cx="4846320" cy="694944"/>
          </a:xfrm>
          <a:prstGeom prst="rect">
            <a:avLst/>
          </a:prstGeom>
          <a:solidFill>
            <a:srgbClr val="2D1B2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8" name="コマンド枠のアクセント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11480" y="4014216"/>
            <a:ext cx="54864" cy="694944"/>
          </a:xfrm>
          <a:prstGeom prst="rect">
            <a:avLst/>
          </a:prstGeom>
          <a:solidFill>
            <a:srgbClr val="E9542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7"/>
          <p:cNvSpPr/>
          <p:nvPr/>
        </p:nvSpPr>
        <p:spPr>
          <a:xfrm>
            <a:off x="576072" y="4142232"/>
            <a:ext cx="45354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83"/>
              </a:lnSpc>
              <a:buNone/>
            </a:pPr>
            <a:r>
              <a:rPr lang="en-US" sz="950" dirty="0">
                <a:solidFill>
                  <a:srgbClr val="F7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2 * * * postgres pg_dump -Fc app_db -f</a:t>
            </a:r>
            <a:endParaRPr lang="en-US" sz="950" dirty="0"/>
          </a:p>
          <a:p>
            <a:pPr marL="0" indent="0">
              <a:lnSpc>
                <a:spcPts val="1283"/>
              </a:lnSpc>
              <a:buNone/>
            </a:pPr>
            <a:r>
              <a:rPr lang="en-US" sz="950" dirty="0">
                <a:solidFill>
                  <a:srgbClr val="F7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/var/backups/app_db_$(date +\%F).dump</a:t>
            </a:r>
            <a:endParaRPr lang="en-US" sz="950" dirty="0"/>
          </a:p>
        </p:txBody>
      </p:sp>
      <p:sp>
        <p:nvSpPr>
          <p:cNvPr id="20" name="カード背景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40680" y="1115568"/>
            <a:ext cx="329184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ADFE6"/>
            </a:solidFill>
            <a:prstDash val="solid"/>
          </a:ln>
          <a:effectLst>
            <a:outerShdw blurRad="127000" dist="25400" dir="5400000" algn="bl" rotWithShape="0">
              <a:srgbClr val="5E275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1" name="カードのアクセント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40680" y="1115568"/>
            <a:ext cx="64008" cy="3291840"/>
          </a:xfrm>
          <a:prstGeom prst="rect">
            <a:avLst/>
          </a:prstGeom>
          <a:solidFill>
            <a:srgbClr val="E95420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22" name="Image 0" descr="/agent/turn1/workspace/assets/icon-back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0136" y="1261872"/>
            <a:ext cx="438912" cy="438912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6208776" y="1261872"/>
            <a:ext cx="23408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E27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運用チェック項目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5669280" y="1847088"/>
            <a:ext cx="2880360" cy="2414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2B212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・保存先は DB 本体とは別のディスク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2B212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または別ホストに置く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2B212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・月に一度はリストア試験を実施する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2B212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・ログ監視：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2B212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/var/log/postgresql/ を確認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2B212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・接続数・スロークエリを定期確認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2B212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（pg_stat_activity）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2B212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・セキュリティ更新は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2B212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sudo apt upgrade で適用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411480" y="4718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16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PostgreSQL on Ubuntu Server ｜ 構築手順書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8138160" y="4718304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5E27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9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帯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5E275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アクセント線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868680"/>
            <a:ext cx="9144000" cy="50292"/>
          </a:xfrm>
          <a:prstGeom prst="rect">
            <a:avLst/>
          </a:prstGeom>
          <a:solidFill>
            <a:srgbClr val="E9542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411480" y="182880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トラブルシューティング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38912" y="548640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5D4E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よくある事象と確認すべきポイント</a:t>
            </a:r>
            <a:endParaRPr lang="en-US" sz="1050" dirty="0"/>
          </a:p>
        </p:txBody>
      </p:sp>
      <p:sp>
        <p:nvSpPr>
          <p:cNvPr id="6" name="項目カード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11480" y="1170432"/>
            <a:ext cx="83210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ADF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項目のアクセント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11480" y="1170432"/>
            <a:ext cx="64008" cy="640080"/>
          </a:xfrm>
          <a:prstGeom prst="rect">
            <a:avLst/>
          </a:prstGeom>
          <a:solidFill>
            <a:srgbClr val="E9542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621792" y="1225296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E27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サービスが起動しない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21792" y="1490472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B212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journalctl -u postgresql -n 50 でログ確認。設定ファイルの構文ミスやポート競合が主因。</a:t>
            </a:r>
            <a:endParaRPr lang="en-US" sz="1000" dirty="0"/>
          </a:p>
        </p:txBody>
      </p:sp>
      <p:sp>
        <p:nvSpPr>
          <p:cNvPr id="10" name="項目カード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11480" y="1883664"/>
            <a:ext cx="83210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ADF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項目のアクセント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11480" y="1883664"/>
            <a:ext cx="64008" cy="640080"/>
          </a:xfrm>
          <a:prstGeom prst="rect">
            <a:avLst/>
          </a:prstGeom>
          <a:solidFill>
            <a:srgbClr val="E9542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621792" y="193852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E27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リモートから接続できない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21792" y="2203704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B212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listen_addresses、pg_hba.conf、ufw の3点を順に確認。reload 漏れにも注意。</a:t>
            </a:r>
            <a:endParaRPr lang="en-US" sz="1000" dirty="0"/>
          </a:p>
        </p:txBody>
      </p:sp>
      <p:sp>
        <p:nvSpPr>
          <p:cNvPr id="14" name="項目カード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11480" y="2596896"/>
            <a:ext cx="83210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ADF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項目のアクセント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11480" y="2596896"/>
            <a:ext cx="64008" cy="640080"/>
          </a:xfrm>
          <a:prstGeom prst="rect">
            <a:avLst/>
          </a:prstGeom>
          <a:solidFill>
            <a:srgbClr val="E9542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621792" y="2651760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E27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認証に失敗する（password authentication failed）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21792" y="2916936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B212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pg_hba.conf の認証方式とロールのパスワード設定を確認。scram-sha-256 で再設定する。</a:t>
            </a:r>
            <a:endParaRPr lang="en-US" sz="1000" dirty="0"/>
          </a:p>
        </p:txBody>
      </p:sp>
      <p:sp>
        <p:nvSpPr>
          <p:cNvPr id="18" name="項目カード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11480" y="3310128"/>
            <a:ext cx="83210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ADF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項目のアクセント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11480" y="3310128"/>
            <a:ext cx="64008" cy="640080"/>
          </a:xfrm>
          <a:prstGeom prst="rect">
            <a:avLst/>
          </a:prstGeom>
          <a:solidFill>
            <a:srgbClr val="E9542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8"/>
          <p:cNvSpPr/>
          <p:nvPr/>
        </p:nvSpPr>
        <p:spPr>
          <a:xfrm>
            <a:off x="621792" y="3364992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E27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データベースに日本語が正しく入らない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21792" y="3630168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B212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DB のエンコーディングが UTF8 か確認。template0 から作り直す。</a:t>
            </a:r>
            <a:endParaRPr lang="en-US" sz="1000" dirty="0"/>
          </a:p>
        </p:txBody>
      </p:sp>
      <p:sp>
        <p:nvSpPr>
          <p:cNvPr id="22" name="項目カード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11480" y="4023360"/>
            <a:ext cx="83210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ADF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項目のアクセント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11480" y="4023360"/>
            <a:ext cx="64008" cy="640080"/>
          </a:xfrm>
          <a:prstGeom prst="rect">
            <a:avLst/>
          </a:prstGeom>
          <a:solidFill>
            <a:srgbClr val="E9542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4" name="Text 22"/>
          <p:cNvSpPr/>
          <p:nvPr/>
        </p:nvSpPr>
        <p:spPr>
          <a:xfrm>
            <a:off x="621792" y="4078224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E27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ディスク容量が逼迫している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21792" y="434340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B212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不要な WAL やバックアップを整理し、VACUUM / autovacuum の稼働状況を確認する。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11480" y="4718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16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PostgreSQL on Ubuntu Server ｜ 構築手順書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138160" y="4718304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5E27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10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5E27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上部アクセント線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9542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完了チェックリスト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66928" y="9875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5D4E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すべて確認できれば構築は完了です</a:t>
            </a:r>
            <a:endParaRPr lang="en-US" sz="1100" dirty="0"/>
          </a:p>
        </p:txBody>
      </p:sp>
      <p:sp>
        <p:nvSpPr>
          <p:cNvPr id="5" name="チェック行の背景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417320"/>
            <a:ext cx="8046720" cy="475488"/>
          </a:xfrm>
          <a:prstGeom prst="rect">
            <a:avLst/>
          </a:prstGeom>
          <a:solidFill>
            <a:srgbClr val="8A3A6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行のアクセント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417320"/>
            <a:ext cx="54864" cy="475488"/>
          </a:xfrm>
          <a:prstGeom prst="rect">
            <a:avLst/>
          </a:prstGeom>
          <a:solidFill>
            <a:srgbClr val="E9542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" name="チェックボックス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49808" y="1554480"/>
            <a:ext cx="201168" cy="201168"/>
          </a:xfrm>
          <a:prstGeom prst="rect">
            <a:avLst/>
          </a:prstGeom>
          <a:solidFill>
            <a:srgbClr val="5E2750">
              <a:alpha val="0"/>
            </a:srgbClr>
          </a:solidFill>
          <a:ln w="22225">
            <a:solidFill>
              <a:srgbClr val="E9542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1133856" y="141732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OS が最新化され、タイムゾーンが Asia/Tokyo になっている</a:t>
            </a:r>
            <a:endParaRPr lang="en-US" sz="1150" dirty="0"/>
          </a:p>
        </p:txBody>
      </p:sp>
      <p:sp>
        <p:nvSpPr>
          <p:cNvPr id="9" name="チェック行の背景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938528"/>
            <a:ext cx="8046720" cy="475488"/>
          </a:xfrm>
          <a:prstGeom prst="rect">
            <a:avLst/>
          </a:prstGeom>
          <a:solidFill>
            <a:srgbClr val="8A3A6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行のアクセント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938528"/>
            <a:ext cx="54864" cy="475488"/>
          </a:xfrm>
          <a:prstGeom prst="rect">
            <a:avLst/>
          </a:prstGeom>
          <a:solidFill>
            <a:srgbClr val="E9542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1" name="チェックボックス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49808" y="2075688"/>
            <a:ext cx="201168" cy="201168"/>
          </a:xfrm>
          <a:prstGeom prst="rect">
            <a:avLst/>
          </a:prstGeom>
          <a:solidFill>
            <a:srgbClr val="5E2750">
              <a:alpha val="0"/>
            </a:srgbClr>
          </a:solidFill>
          <a:ln w="22225">
            <a:solidFill>
              <a:srgbClr val="E9542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1133856" y="1938528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postgresql サービスが稼働し、自動起動が有効になっている</a:t>
            </a:r>
            <a:endParaRPr lang="en-US" sz="1150" dirty="0"/>
          </a:p>
        </p:txBody>
      </p:sp>
      <p:sp>
        <p:nvSpPr>
          <p:cNvPr id="13" name="チェック行の背景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2459736"/>
            <a:ext cx="8046720" cy="475488"/>
          </a:xfrm>
          <a:prstGeom prst="rect">
            <a:avLst/>
          </a:prstGeom>
          <a:solidFill>
            <a:srgbClr val="8A3A6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4" name="行のアクセント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2459736"/>
            <a:ext cx="54864" cy="475488"/>
          </a:xfrm>
          <a:prstGeom prst="rect">
            <a:avLst/>
          </a:prstGeom>
          <a:solidFill>
            <a:srgbClr val="E9542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5" name="チェックボックス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49808" y="2596896"/>
            <a:ext cx="201168" cy="201168"/>
          </a:xfrm>
          <a:prstGeom prst="rect">
            <a:avLst/>
          </a:prstGeom>
          <a:solidFill>
            <a:srgbClr val="5E2750">
              <a:alpha val="0"/>
            </a:srgbClr>
          </a:solidFill>
          <a:ln w="22225">
            <a:solidFill>
              <a:srgbClr val="E9542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1133856" y="2459736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postgres ユーザーのパスワードが設定されている</a:t>
            </a:r>
            <a:endParaRPr lang="en-US" sz="1150" dirty="0"/>
          </a:p>
        </p:txBody>
      </p:sp>
      <p:sp>
        <p:nvSpPr>
          <p:cNvPr id="17" name="チェック行の背景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2980944"/>
            <a:ext cx="8046720" cy="475488"/>
          </a:xfrm>
          <a:prstGeom prst="rect">
            <a:avLst/>
          </a:prstGeom>
          <a:solidFill>
            <a:srgbClr val="8A3A6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8" name="行のアクセント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2980944"/>
            <a:ext cx="54864" cy="475488"/>
          </a:xfrm>
          <a:prstGeom prst="rect">
            <a:avLst/>
          </a:prstGeom>
          <a:solidFill>
            <a:srgbClr val="E9542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9" name="チェックボックス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49808" y="3118104"/>
            <a:ext cx="201168" cy="201168"/>
          </a:xfrm>
          <a:prstGeom prst="rect">
            <a:avLst/>
          </a:prstGeom>
          <a:solidFill>
            <a:srgbClr val="5E2750">
              <a:alpha val="0"/>
            </a:srgbClr>
          </a:solidFill>
          <a:ln w="22225">
            <a:solidFill>
              <a:srgbClr val="E9542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8"/>
          <p:cNvSpPr/>
          <p:nvPr/>
        </p:nvSpPr>
        <p:spPr>
          <a:xfrm>
            <a:off x="1133856" y="2980944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業務用ロールとデータベースが作成され、接続できる</a:t>
            </a:r>
            <a:endParaRPr lang="en-US" sz="1150" dirty="0"/>
          </a:p>
        </p:txBody>
      </p:sp>
      <p:sp>
        <p:nvSpPr>
          <p:cNvPr id="21" name="チェック行の背景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3502152"/>
            <a:ext cx="8046720" cy="475488"/>
          </a:xfrm>
          <a:prstGeom prst="rect">
            <a:avLst/>
          </a:prstGeom>
          <a:solidFill>
            <a:srgbClr val="8A3A6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2" name="行のアクセント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3502152"/>
            <a:ext cx="54864" cy="475488"/>
          </a:xfrm>
          <a:prstGeom prst="rect">
            <a:avLst/>
          </a:prstGeom>
          <a:solidFill>
            <a:srgbClr val="E9542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3" name="チェックボックス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49808" y="3639312"/>
            <a:ext cx="201168" cy="201168"/>
          </a:xfrm>
          <a:prstGeom prst="rect">
            <a:avLst/>
          </a:prstGeom>
          <a:solidFill>
            <a:srgbClr val="5E2750">
              <a:alpha val="0"/>
            </a:srgbClr>
          </a:solidFill>
          <a:ln w="22225">
            <a:solidFill>
              <a:srgbClr val="E9542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Text 22"/>
          <p:cNvSpPr/>
          <p:nvPr/>
        </p:nvSpPr>
        <p:spPr>
          <a:xfrm>
            <a:off x="1133856" y="3502152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pg_hba.conf と ufw で接続元が必要最小限に限定されている</a:t>
            </a:r>
            <a:endParaRPr lang="en-US" sz="1150" dirty="0"/>
          </a:p>
        </p:txBody>
      </p:sp>
      <p:sp>
        <p:nvSpPr>
          <p:cNvPr id="25" name="チェック行の背景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4023360"/>
            <a:ext cx="8046720" cy="475488"/>
          </a:xfrm>
          <a:prstGeom prst="rect">
            <a:avLst/>
          </a:prstGeom>
          <a:solidFill>
            <a:srgbClr val="8A3A6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6" name="行のアクセント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4023360"/>
            <a:ext cx="54864" cy="475488"/>
          </a:xfrm>
          <a:prstGeom prst="rect">
            <a:avLst/>
          </a:prstGeom>
          <a:solidFill>
            <a:srgbClr val="E9542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7" name="チェックボックス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49808" y="4160520"/>
            <a:ext cx="201168" cy="201168"/>
          </a:xfrm>
          <a:prstGeom prst="rect">
            <a:avLst/>
          </a:prstGeom>
          <a:solidFill>
            <a:srgbClr val="5E2750">
              <a:alpha val="0"/>
            </a:srgbClr>
          </a:solidFill>
          <a:ln w="22225">
            <a:solidFill>
              <a:srgbClr val="E9542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" name="Text 26"/>
          <p:cNvSpPr/>
          <p:nvPr/>
        </p:nvSpPr>
        <p:spPr>
          <a:xfrm>
            <a:off x="1133856" y="40233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バックアップが定期実行され、リストア手順が確認済みである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48640" y="468172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0C8D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参考：PostgreSQL 公式ドキュメント（postgresql.org/docs） ／ Ubuntu Server Guide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1024</Words>
  <Application>Microsoft Office PowerPoint</Application>
  <PresentationFormat>画面に合わせる (16:9)</PresentationFormat>
  <Paragraphs>245</Paragraphs>
  <Slides>11</Slides>
  <Notes>11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11</vt:i4>
      </vt:variant>
    </vt:vector>
  </HeadingPairs>
  <TitlesOfParts>
    <vt:vector size="16" baseType="lpstr">
      <vt:lpstr>Yu Gothic UI</vt:lpstr>
      <vt:lpstr>Arial</vt:lpstr>
      <vt:lpstr>Calibri</vt:lpstr>
      <vt:lpstr>Consolas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Hattori, Takao</dc:creator>
  <cp:lastModifiedBy>Hattori, Takao</cp:lastModifiedBy>
  <cp:revision>1</cp:revision>
  <dcterms:created xsi:type="dcterms:W3CDTF">2026-09-18T10:52:10Z</dcterms:created>
  <dcterms:modified xsi:type="dcterms:W3CDTF">2026-09-18T10:53:43Z</dcterms:modified>
</cp:coreProperties>
</file>